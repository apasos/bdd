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86" r:id="rId4"/>
    <p:sldId id="276" r:id="rId5"/>
    <p:sldId id="261" r:id="rId6"/>
    <p:sldId id="278" r:id="rId7"/>
    <p:sldId id="259" r:id="rId8"/>
    <p:sldId id="280" r:id="rId9"/>
    <p:sldId id="290" r:id="rId10"/>
    <p:sldId id="283" r:id="rId11"/>
    <p:sldId id="285" r:id="rId12"/>
    <p:sldId id="260" r:id="rId13"/>
    <p:sldId id="262" r:id="rId14"/>
    <p:sldId id="294" r:id="rId15"/>
    <p:sldId id="263" r:id="rId16"/>
    <p:sldId id="267" r:id="rId17"/>
    <p:sldId id="268" r:id="rId18"/>
    <p:sldId id="269" r:id="rId19"/>
    <p:sldId id="291" r:id="rId20"/>
  </p:sldIdLst>
  <p:sldSz cx="9144000" cy="6858000" type="screen4x3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DC4621B-35E6-4468-975C-C499D465A2BE}" type="datetimeFigureOut">
              <a:rPr lang="es-UY" smtClean="0"/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UY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Y" dirty="0" smtClean="0"/>
              <a:t>Bases </a:t>
            </a:r>
            <a:r>
              <a:rPr lang="es-UY" smtClean="0"/>
              <a:t>de datos </a:t>
            </a:r>
            <a:r>
              <a:rPr lang="es-UY" dirty="0" smtClean="0"/>
              <a:t>1</a:t>
            </a:r>
            <a:endParaRPr lang="es-UY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UY" smtClean="0"/>
              <a:t>Teórico</a:t>
            </a:r>
            <a:r>
              <a:rPr lang="es-UY" dirty="0" smtClean="0"/>
              <a:t>: Introducción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18225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Conceptos </a:t>
            </a:r>
            <a:r>
              <a:rPr lang="es-UY" dirty="0"/>
              <a:t>g</a:t>
            </a:r>
            <a:r>
              <a:rPr lang="es-UY" dirty="0" smtClean="0"/>
              <a:t>enerales 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b="1" dirty="0" smtClean="0"/>
              <a:t>Base de Datos</a:t>
            </a:r>
            <a:r>
              <a:rPr lang="es-UY" dirty="0" smtClean="0"/>
              <a:t>: </a:t>
            </a:r>
          </a:p>
          <a:p>
            <a:pPr lvl="1"/>
            <a:r>
              <a:rPr lang="es-UY" dirty="0" smtClean="0"/>
              <a:t>Es un conjunto de datos relacionados</a:t>
            </a:r>
          </a:p>
          <a:p>
            <a:pPr lvl="1"/>
            <a:r>
              <a:rPr lang="es-UY" dirty="0" smtClean="0"/>
              <a:t>Representa algún aspecto del mundo real</a:t>
            </a:r>
          </a:p>
          <a:p>
            <a:pPr lvl="1"/>
            <a:r>
              <a:rPr lang="es-UY" dirty="0" smtClean="0"/>
              <a:t>Es construida para un propósito específico</a:t>
            </a:r>
          </a:p>
          <a:p>
            <a:endParaRPr lang="es-UY" dirty="0"/>
          </a:p>
          <a:p>
            <a:r>
              <a:rPr lang="es-UY" b="1" dirty="0" smtClean="0"/>
              <a:t>Database Management System (DBMS</a:t>
            </a:r>
            <a:r>
              <a:rPr lang="es-UY" b="1" dirty="0" smtClean="0"/>
              <a:t>)</a:t>
            </a:r>
            <a:r>
              <a:rPr lang="es-UY" dirty="0" smtClean="0"/>
              <a:t>:</a:t>
            </a:r>
            <a:endParaRPr lang="es-UY" b="1" dirty="0"/>
          </a:p>
          <a:p>
            <a:pPr lvl="1"/>
            <a:r>
              <a:rPr lang="es-UY" dirty="0" smtClean="0"/>
              <a:t>Es </a:t>
            </a:r>
            <a:r>
              <a:rPr lang="es-UY" dirty="0" smtClean="0"/>
              <a:t>un software especializado en gestión de bases de </a:t>
            </a:r>
            <a:r>
              <a:rPr lang="es-UY" dirty="0" smtClean="0"/>
              <a:t>datos</a:t>
            </a:r>
          </a:p>
          <a:p>
            <a:pPr lvl="1"/>
            <a:r>
              <a:rPr lang="es-UY" dirty="0" smtClean="0"/>
              <a:t>Permite a los usuarios crear y mantener una base de datos</a:t>
            </a:r>
            <a:endParaRPr lang="es-UY" dirty="0" smtClean="0"/>
          </a:p>
          <a:p>
            <a:endParaRPr lang="es-UY" dirty="0" smtClean="0"/>
          </a:p>
          <a:p>
            <a:endParaRPr lang="es-UY" dirty="0"/>
          </a:p>
          <a:p>
            <a:endParaRPr lang="es-UY" dirty="0" smtClean="0"/>
          </a:p>
          <a:p>
            <a:endParaRPr lang="es-UY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22807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Conceptos generales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b="1" dirty="0"/>
              <a:t>Esquema de una BD</a:t>
            </a:r>
            <a:r>
              <a:rPr lang="es-UY" dirty="0"/>
              <a:t>:</a:t>
            </a:r>
          </a:p>
          <a:p>
            <a:pPr lvl="1"/>
            <a:r>
              <a:rPr lang="es-UY" dirty="0"/>
              <a:t>Describe la estructura de una BD</a:t>
            </a:r>
          </a:p>
          <a:p>
            <a:pPr lvl="1"/>
            <a:r>
              <a:rPr lang="es-UY" dirty="0"/>
              <a:t>Define sus tablas, sus campos en cada tabla y las relaciones entre cada campo </a:t>
            </a:r>
            <a:r>
              <a:rPr lang="es-UY" dirty="0" smtClean="0"/>
              <a:t>y </a:t>
            </a:r>
            <a:r>
              <a:rPr lang="es-UY" dirty="0"/>
              <a:t>cada </a:t>
            </a:r>
            <a:r>
              <a:rPr lang="es-UY" dirty="0" smtClean="0"/>
              <a:t>tabla</a:t>
            </a:r>
          </a:p>
          <a:p>
            <a:pPr lvl="1"/>
            <a:r>
              <a:rPr lang="es-UY" dirty="0"/>
              <a:t>Es </a:t>
            </a:r>
            <a:r>
              <a:rPr lang="es-UY" dirty="0" smtClean="0"/>
              <a:t>estable</a:t>
            </a:r>
          </a:p>
          <a:p>
            <a:pPr marL="365760" lvl="1" indent="0">
              <a:buNone/>
            </a:pPr>
            <a:endParaRPr lang="es-UY" dirty="0"/>
          </a:p>
          <a:p>
            <a:r>
              <a:rPr lang="es-UY" b="1" dirty="0"/>
              <a:t>Instancia de una BD</a:t>
            </a:r>
            <a:r>
              <a:rPr lang="es-UY" dirty="0"/>
              <a:t>:</a:t>
            </a:r>
          </a:p>
          <a:p>
            <a:pPr lvl="1"/>
            <a:r>
              <a:rPr lang="es-UY" dirty="0" smtClean="0"/>
              <a:t>Es el conjunto de datos almacenados en la BD en un cierto momento</a:t>
            </a:r>
            <a:endParaRPr lang="es-UY" dirty="0"/>
          </a:p>
          <a:p>
            <a:pPr lvl="1"/>
            <a:r>
              <a:rPr lang="es-UY" dirty="0" smtClean="0"/>
              <a:t>Es inestable</a:t>
            </a:r>
            <a:endParaRPr lang="es-UY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16918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Elementos de una base de datos</a:t>
            </a:r>
            <a:endParaRPr lang="es-UY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2920"/>
            <a:ext cx="7467600" cy="4268185"/>
          </a:xfrm>
        </p:spPr>
      </p:pic>
    </p:spTree>
    <p:extLst>
      <p:ext uri="{BB962C8B-B14F-4D97-AF65-F5344CB8AC3E}">
        <p14:creationId xmlns:p14="http://schemas.microsoft.com/office/powerpoint/2010/main" val="236757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Actores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UY" b="1" dirty="0" smtClean="0"/>
              <a:t>Administradores </a:t>
            </a:r>
            <a:r>
              <a:rPr lang="es-UY" b="1" dirty="0" smtClean="0"/>
              <a:t>de la Base de Datos (DBA</a:t>
            </a:r>
            <a:r>
              <a:rPr lang="es-UY" b="1" dirty="0" smtClean="0"/>
              <a:t>)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Son responsables de:</a:t>
            </a:r>
          </a:p>
          <a:p>
            <a:pPr lvl="2"/>
            <a:r>
              <a:rPr lang="es-UY" dirty="0" smtClean="0"/>
              <a:t>A</a:t>
            </a:r>
            <a:r>
              <a:rPr lang="es-UY" dirty="0" smtClean="0"/>
              <a:t>utorizar el acceso a la BD</a:t>
            </a:r>
          </a:p>
          <a:p>
            <a:pPr lvl="2"/>
            <a:r>
              <a:rPr lang="es-UY" dirty="0" smtClean="0"/>
              <a:t>Coordinar y monitorear su uso</a:t>
            </a:r>
            <a:endParaRPr lang="es-UY" dirty="0"/>
          </a:p>
          <a:p>
            <a:pPr lvl="2"/>
            <a:endParaRPr lang="es-UY" dirty="0" smtClean="0"/>
          </a:p>
          <a:p>
            <a:r>
              <a:rPr lang="es-UY" b="1" dirty="0" smtClean="0"/>
              <a:t>Diseñadores </a:t>
            </a:r>
            <a:r>
              <a:rPr lang="es-UY" b="1" dirty="0" smtClean="0"/>
              <a:t>de la Base de </a:t>
            </a:r>
            <a:r>
              <a:rPr lang="es-UY" b="1" dirty="0" smtClean="0"/>
              <a:t>Datos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Son re</a:t>
            </a:r>
            <a:r>
              <a:rPr lang="es-UY" dirty="0" smtClean="0"/>
              <a:t>sponsables de:</a:t>
            </a:r>
          </a:p>
          <a:p>
            <a:pPr lvl="2"/>
            <a:r>
              <a:rPr lang="es-UY" dirty="0" smtClean="0"/>
              <a:t>Identificar los datos que van a ser almacenados</a:t>
            </a:r>
          </a:p>
          <a:p>
            <a:pPr lvl="2"/>
            <a:r>
              <a:rPr lang="es-UY" dirty="0" smtClean="0"/>
              <a:t>Elegir las estructuras adecuadas para representar y almacenar estos datos</a:t>
            </a:r>
            <a:endParaRPr lang="es-UY" dirty="0" smtClean="0"/>
          </a:p>
          <a:p>
            <a:pPr marL="0" indent="0">
              <a:buNone/>
            </a:pPr>
            <a:endParaRPr lang="es-UY" dirty="0" smtClean="0"/>
          </a:p>
          <a:p>
            <a:r>
              <a:rPr lang="es-UY" b="1" dirty="0" smtClean="0"/>
              <a:t>Usuarios </a:t>
            </a:r>
            <a:r>
              <a:rPr lang="es-UY" b="1" dirty="0" smtClean="0"/>
              <a:t>finales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Son las personas cuyo trabaj</a:t>
            </a:r>
            <a:r>
              <a:rPr lang="es-UY" dirty="0" smtClean="0"/>
              <a:t>o requiere acceso a la BD</a:t>
            </a:r>
          </a:p>
          <a:p>
            <a:pPr lvl="1"/>
            <a:endParaRPr lang="es-UY" dirty="0"/>
          </a:p>
          <a:p>
            <a:r>
              <a:rPr lang="es-UY" b="1" dirty="0" smtClean="0"/>
              <a:t>Analistas de Sistemas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Determinan los requerimientos de los usuarios finales</a:t>
            </a:r>
          </a:p>
          <a:p>
            <a:pPr lvl="1"/>
            <a:endParaRPr lang="es-UY" dirty="0"/>
          </a:p>
          <a:p>
            <a:r>
              <a:rPr lang="es-UY" b="1" dirty="0" smtClean="0"/>
              <a:t>Desarrolladores</a:t>
            </a:r>
            <a:r>
              <a:rPr lang="es-UY" dirty="0" smtClean="0"/>
              <a:t>:</a:t>
            </a:r>
            <a:endParaRPr lang="es-UY" dirty="0" smtClean="0"/>
          </a:p>
          <a:p>
            <a:pPr lvl="1"/>
            <a:r>
              <a:rPr lang="es-UY" dirty="0" smtClean="0"/>
              <a:t>Implementan estas especificaciones como programas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59983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Ventajas al usar bases de datos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UY" dirty="0" smtClean="0"/>
              <a:t>Permite el manejo de grandes volúmenes de datos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Permite una mejor organización de la información:</a:t>
            </a:r>
          </a:p>
          <a:p>
            <a:pPr lvl="1"/>
            <a:r>
              <a:rPr lang="es-UY" dirty="0" smtClean="0"/>
              <a:t>Definición central de datos</a:t>
            </a:r>
          </a:p>
          <a:p>
            <a:pPr lvl="1"/>
            <a:r>
              <a:rPr lang="es-UY" dirty="0" smtClean="0"/>
              <a:t>Abstracción de datos</a:t>
            </a:r>
          </a:p>
          <a:p>
            <a:pPr lvl="1"/>
            <a:r>
              <a:rPr lang="es-UY" dirty="0" smtClean="0"/>
              <a:t>Múltiples vistas de los datos</a:t>
            </a:r>
          </a:p>
          <a:p>
            <a:pPr lvl="1"/>
            <a:r>
              <a:rPr lang="es-UY" dirty="0" smtClean="0"/>
              <a:t>Almacenamiento de datos y programas</a:t>
            </a:r>
          </a:p>
          <a:p>
            <a:pPr marL="365760" lvl="1" indent="0">
              <a:buNone/>
            </a:pPr>
            <a:endParaRPr lang="es-UY" dirty="0" smtClean="0"/>
          </a:p>
          <a:p>
            <a:r>
              <a:rPr lang="es-UY" dirty="0" smtClean="0"/>
              <a:t>Control </a:t>
            </a:r>
            <a:r>
              <a:rPr lang="es-UY" dirty="0" smtClean="0"/>
              <a:t>de </a:t>
            </a:r>
            <a:r>
              <a:rPr lang="es-UY" dirty="0" smtClean="0"/>
              <a:t>concurrencia</a:t>
            </a:r>
          </a:p>
          <a:p>
            <a:endParaRPr lang="es-UY" dirty="0"/>
          </a:p>
          <a:p>
            <a:r>
              <a:rPr lang="es-UY" dirty="0" smtClean="0"/>
              <a:t>Seguridad </a:t>
            </a:r>
            <a:r>
              <a:rPr lang="es-UY" dirty="0" smtClean="0"/>
              <a:t>y </a:t>
            </a:r>
            <a:r>
              <a:rPr lang="es-UY" dirty="0" smtClean="0"/>
              <a:t>Recuperación </a:t>
            </a:r>
            <a:r>
              <a:rPr lang="es-UY" dirty="0" smtClean="0"/>
              <a:t>ante fallas</a:t>
            </a:r>
          </a:p>
          <a:p>
            <a:pPr lvl="1"/>
            <a:endParaRPr lang="es-UY" dirty="0"/>
          </a:p>
          <a:p>
            <a:r>
              <a:rPr lang="es-UY" dirty="0" smtClean="0"/>
              <a:t>Separación entre programas y datos</a:t>
            </a:r>
          </a:p>
          <a:p>
            <a:endParaRPr lang="es-UY" dirty="0"/>
          </a:p>
          <a:p>
            <a:r>
              <a:rPr lang="es-UY" dirty="0" smtClean="0"/>
              <a:t>Control de Restricciones de Integridad</a:t>
            </a:r>
          </a:p>
          <a:p>
            <a:endParaRPr lang="es-UY" dirty="0"/>
          </a:p>
          <a:p>
            <a:r>
              <a:rPr lang="es-UY" dirty="0" smtClean="0"/>
              <a:t>Estandarización de modelos y lenguajes</a:t>
            </a:r>
          </a:p>
          <a:p>
            <a:pPr lvl="1"/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7483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Al no usar bases de datos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dirty="0" smtClean="0"/>
              <a:t>Se debería desarrollar programas usando lenguajes de propósito general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Esto implica más trabajo para manipular </a:t>
            </a:r>
            <a:r>
              <a:rPr lang="es-UY" dirty="0" smtClean="0"/>
              <a:t>datos así como </a:t>
            </a:r>
            <a:r>
              <a:rPr lang="es-UY" dirty="0" smtClean="0"/>
              <a:t>mantener la calidad de los </a:t>
            </a:r>
            <a:r>
              <a:rPr lang="es-UY" dirty="0" smtClean="0"/>
              <a:t>mismos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Se presentan problemas específicos a la implementación basada en archivos, a resolver por el programador:</a:t>
            </a:r>
          </a:p>
          <a:p>
            <a:pPr lvl="1"/>
            <a:r>
              <a:rPr lang="es-UY" dirty="0" smtClean="0"/>
              <a:t>Inconsistencia de datos</a:t>
            </a:r>
          </a:p>
          <a:p>
            <a:pPr lvl="1"/>
            <a:r>
              <a:rPr lang="es-UY" dirty="0" smtClean="0"/>
              <a:t>Dificultades para el acceso a la información</a:t>
            </a:r>
          </a:p>
          <a:p>
            <a:pPr lvl="1"/>
            <a:r>
              <a:rPr lang="es-UY" dirty="0" smtClean="0"/>
              <a:t>Seguridad en datos</a:t>
            </a:r>
          </a:p>
          <a:p>
            <a:pPr lvl="1"/>
            <a:r>
              <a:rPr lang="es-UY" dirty="0" smtClean="0"/>
              <a:t>Control de concurrencia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3416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Propiedades de DBMS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Control global único de la BD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Separación entre esquema y aplicaciones:</a:t>
            </a:r>
          </a:p>
          <a:p>
            <a:pPr lvl="1"/>
            <a:r>
              <a:rPr lang="es-UY" b="1" dirty="0" smtClean="0"/>
              <a:t>Esquema</a:t>
            </a:r>
            <a:r>
              <a:rPr lang="es-UY" dirty="0" smtClean="0"/>
              <a:t>: Visión global de los datos de la realidad</a:t>
            </a:r>
          </a:p>
          <a:p>
            <a:pPr lvl="1"/>
            <a:r>
              <a:rPr lang="es-UY" b="1" dirty="0" smtClean="0"/>
              <a:t>Aplicaciones</a:t>
            </a:r>
            <a:r>
              <a:rPr lang="es-UY" dirty="0" smtClean="0"/>
              <a:t>: Programas sobre la BD</a:t>
            </a:r>
          </a:p>
          <a:p>
            <a:pPr lvl="1"/>
            <a:endParaRPr lang="es-UY" dirty="0"/>
          </a:p>
          <a:p>
            <a:r>
              <a:rPr lang="es-UY" dirty="0" smtClean="0"/>
              <a:t>Soporte a diferentes visiones de los datos:</a:t>
            </a:r>
          </a:p>
          <a:p>
            <a:pPr lvl="1"/>
            <a:r>
              <a:rPr lang="es-UY" dirty="0" smtClean="0"/>
              <a:t>Usuarios/aplicaciones ven subconjuntos de la BD</a:t>
            </a:r>
          </a:p>
          <a:p>
            <a:pPr lvl="1"/>
            <a:endParaRPr lang="es-UY" dirty="0"/>
          </a:p>
          <a:p>
            <a:r>
              <a:rPr lang="es-UY" dirty="0" smtClean="0"/>
              <a:t>Independencia de datos:</a:t>
            </a:r>
          </a:p>
          <a:p>
            <a:pPr lvl="1"/>
            <a:r>
              <a:rPr lang="es-UY" dirty="0" smtClean="0"/>
              <a:t>Esquema lógico independiente de implementación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4467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Arquitectura en 3 niveles</a:t>
            </a:r>
            <a:endParaRPr lang="es-UY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93346"/>
            <a:ext cx="7467600" cy="4487333"/>
          </a:xfrm>
        </p:spPr>
      </p:pic>
    </p:spTree>
    <p:extLst>
      <p:ext uri="{BB962C8B-B14F-4D97-AF65-F5344CB8AC3E}">
        <p14:creationId xmlns:p14="http://schemas.microsoft.com/office/powerpoint/2010/main" val="367983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Tipos de DBMS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b="1" dirty="0" smtClean="0"/>
              <a:t>Según el Modelo de Datos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Relacional</a:t>
            </a:r>
          </a:p>
          <a:p>
            <a:pPr lvl="1"/>
            <a:r>
              <a:rPr lang="es-UY" dirty="0" smtClean="0"/>
              <a:t>Orientado a Objetos</a:t>
            </a:r>
          </a:p>
          <a:p>
            <a:pPr lvl="1"/>
            <a:r>
              <a:rPr lang="es-UY" dirty="0" smtClean="0"/>
              <a:t>Otros</a:t>
            </a:r>
          </a:p>
          <a:p>
            <a:pPr lvl="1"/>
            <a:endParaRPr lang="es-UY" dirty="0"/>
          </a:p>
          <a:p>
            <a:r>
              <a:rPr lang="es-UY" b="1" dirty="0" smtClean="0"/>
              <a:t>Según el porte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Desktop/mono-usuario</a:t>
            </a:r>
          </a:p>
          <a:p>
            <a:pPr lvl="1"/>
            <a:r>
              <a:rPr lang="es-UY" dirty="0" smtClean="0"/>
              <a:t>Servidor/</a:t>
            </a:r>
            <a:r>
              <a:rPr lang="es-UY" dirty="0" err="1" smtClean="0"/>
              <a:t>multi</a:t>
            </a:r>
            <a:r>
              <a:rPr lang="es-UY" dirty="0" smtClean="0"/>
              <a:t>-usuario</a:t>
            </a:r>
          </a:p>
          <a:p>
            <a:pPr lvl="1"/>
            <a:endParaRPr lang="es-UY" dirty="0"/>
          </a:p>
          <a:p>
            <a:r>
              <a:rPr lang="es-UY" b="1" dirty="0" smtClean="0"/>
              <a:t>Según la distribución de la BD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Centralizado</a:t>
            </a:r>
          </a:p>
          <a:p>
            <a:pPr lvl="1"/>
            <a:r>
              <a:rPr lang="es-UY" dirty="0" smtClean="0"/>
              <a:t>Distribuido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59433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Estructura de un DBMS</a:t>
            </a:r>
            <a:endParaRPr lang="es-UY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91816"/>
            <a:ext cx="7467600" cy="4690393"/>
          </a:xfrm>
        </p:spPr>
      </p:pic>
    </p:spTree>
    <p:extLst>
      <p:ext uri="{BB962C8B-B14F-4D97-AF65-F5344CB8AC3E}">
        <p14:creationId xmlns:p14="http://schemas.microsoft.com/office/powerpoint/2010/main" val="57723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Porqué no usar DBMS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dirty="0" smtClean="0"/>
              <a:t>Implica un alto costo en inversión:</a:t>
            </a:r>
          </a:p>
          <a:p>
            <a:pPr lvl="1"/>
            <a:r>
              <a:rPr lang="es-UY" dirty="0" smtClean="0"/>
              <a:t>Hardware</a:t>
            </a:r>
          </a:p>
          <a:p>
            <a:pPr lvl="1"/>
            <a:r>
              <a:rPr lang="es-UY" dirty="0" smtClean="0"/>
              <a:t>Software</a:t>
            </a:r>
          </a:p>
          <a:p>
            <a:pPr lvl="1"/>
            <a:r>
              <a:rPr lang="es-UY" dirty="0" smtClean="0"/>
              <a:t>Capacitación </a:t>
            </a:r>
            <a:r>
              <a:rPr lang="es-UY" dirty="0" smtClean="0"/>
              <a:t>técnica</a:t>
            </a:r>
          </a:p>
          <a:p>
            <a:pPr marL="365760" lvl="1" indent="0">
              <a:buNone/>
            </a:pPr>
            <a:endParaRPr lang="es-UY" dirty="0" smtClean="0"/>
          </a:p>
          <a:p>
            <a:r>
              <a:rPr lang="es-UY" dirty="0" smtClean="0"/>
              <a:t>Implica un costo en la administración:</a:t>
            </a:r>
          </a:p>
          <a:p>
            <a:pPr lvl="1"/>
            <a:r>
              <a:rPr lang="es-UY" dirty="0" smtClean="0"/>
              <a:t>del </a:t>
            </a:r>
            <a:r>
              <a:rPr lang="es-UY" dirty="0" smtClean="0"/>
              <a:t>DBMS</a:t>
            </a:r>
          </a:p>
          <a:p>
            <a:pPr lvl="1"/>
            <a:r>
              <a:rPr lang="es-UY" dirty="0" smtClean="0"/>
              <a:t>de </a:t>
            </a:r>
            <a:r>
              <a:rPr lang="es-UY" dirty="0" smtClean="0"/>
              <a:t>las </a:t>
            </a:r>
            <a:r>
              <a:rPr lang="es-UY" dirty="0" smtClean="0"/>
              <a:t>BD</a:t>
            </a:r>
          </a:p>
          <a:p>
            <a:pPr marL="365760" lvl="1" indent="0">
              <a:buNone/>
            </a:pPr>
            <a:endParaRPr lang="es-UY" dirty="0" smtClean="0"/>
          </a:p>
          <a:p>
            <a:r>
              <a:rPr lang="es-UY" dirty="0" smtClean="0"/>
              <a:t>Se justifica no usar DBMS cuando:</a:t>
            </a:r>
          </a:p>
          <a:p>
            <a:pPr lvl="1"/>
            <a:r>
              <a:rPr lang="es-UY" dirty="0" smtClean="0"/>
              <a:t>existen </a:t>
            </a:r>
            <a:r>
              <a:rPr lang="es-UY" dirty="0" smtClean="0"/>
              <a:t>muy pocos datos</a:t>
            </a:r>
          </a:p>
          <a:p>
            <a:pPr lvl="1"/>
            <a:r>
              <a:rPr lang="es-UY" dirty="0"/>
              <a:t>l</a:t>
            </a:r>
            <a:r>
              <a:rPr lang="es-UY" dirty="0" smtClean="0"/>
              <a:t>os </a:t>
            </a:r>
            <a:r>
              <a:rPr lang="es-UY" dirty="0" smtClean="0"/>
              <a:t>datos son muy estables</a:t>
            </a:r>
          </a:p>
          <a:p>
            <a:pPr lvl="1"/>
            <a:r>
              <a:rPr lang="es-UY" dirty="0" smtClean="0"/>
              <a:t>no </a:t>
            </a:r>
            <a:r>
              <a:rPr lang="es-UY" dirty="0" smtClean="0"/>
              <a:t>hay acceso concurrente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87679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Modelos de datos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Son lenguajes usados para especificar BDs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Permiten expresar:</a:t>
            </a:r>
          </a:p>
          <a:p>
            <a:pPr lvl="1"/>
            <a:r>
              <a:rPr lang="es-UY" b="1" dirty="0" smtClean="0"/>
              <a:t>Estructuras</a:t>
            </a:r>
            <a:r>
              <a:rPr lang="es-UY" dirty="0" smtClean="0"/>
              <a:t>: Objetos de los problemas</a:t>
            </a:r>
          </a:p>
          <a:p>
            <a:pPr lvl="1"/>
            <a:r>
              <a:rPr lang="es-UY" b="1" dirty="0" smtClean="0"/>
              <a:t>Restricciones</a:t>
            </a:r>
            <a:r>
              <a:rPr lang="es-UY" dirty="0" smtClean="0"/>
              <a:t>: Reglas que deben cumplir los datos</a:t>
            </a:r>
          </a:p>
          <a:p>
            <a:pPr lvl="1"/>
            <a:r>
              <a:rPr lang="es-UY" b="1" dirty="0" smtClean="0"/>
              <a:t>Operaciones</a:t>
            </a:r>
            <a:r>
              <a:rPr lang="es-UY" dirty="0" smtClean="0"/>
              <a:t>: Insertar, actualizar, borrar y consultar la BD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69646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Modelos de datos</a:t>
            </a:r>
            <a:endParaRPr lang="es-UY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28800"/>
            <a:ext cx="7467600" cy="4131361"/>
          </a:xfrm>
        </p:spPr>
      </p:pic>
    </p:spTree>
    <p:extLst>
      <p:ext uri="{BB962C8B-B14F-4D97-AF65-F5344CB8AC3E}">
        <p14:creationId xmlns:p14="http://schemas.microsoft.com/office/powerpoint/2010/main" val="181837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Clasificación de modelos de datos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Según el nivel de abstracción:</a:t>
            </a:r>
          </a:p>
          <a:p>
            <a:pPr lvl="1"/>
            <a:r>
              <a:rPr lang="es-UY" b="1" dirty="0" smtClean="0"/>
              <a:t>Conceptuales</a:t>
            </a:r>
            <a:r>
              <a:rPr lang="es-UY" dirty="0" smtClean="0"/>
              <a:t>: </a:t>
            </a:r>
          </a:p>
          <a:p>
            <a:pPr lvl="2"/>
            <a:r>
              <a:rPr lang="es-UY" dirty="0" smtClean="0"/>
              <a:t>Representan la realidad independientemente de cualquier implementación de la BD</a:t>
            </a:r>
          </a:p>
          <a:p>
            <a:pPr lvl="2"/>
            <a:r>
              <a:rPr lang="es-UY" dirty="0" smtClean="0"/>
              <a:t>Usados en la etapa de Análisis</a:t>
            </a:r>
          </a:p>
          <a:p>
            <a:pPr lvl="1"/>
            <a:r>
              <a:rPr lang="es-UY" b="1" dirty="0" smtClean="0"/>
              <a:t>Lógicos</a:t>
            </a:r>
            <a:r>
              <a:rPr lang="es-UY" dirty="0" smtClean="0"/>
              <a:t>:</a:t>
            </a:r>
          </a:p>
          <a:p>
            <a:pPr lvl="2"/>
            <a:r>
              <a:rPr lang="es-UY" dirty="0" smtClean="0"/>
              <a:t>Implementados en DBMSs</a:t>
            </a:r>
          </a:p>
          <a:p>
            <a:pPr lvl="2"/>
            <a:r>
              <a:rPr lang="es-UY" dirty="0" smtClean="0"/>
              <a:t>Usados en las etapas de Diseño e Implementación</a:t>
            </a:r>
          </a:p>
          <a:p>
            <a:pPr lvl="1"/>
            <a:r>
              <a:rPr lang="es-UY" b="1" dirty="0" smtClean="0"/>
              <a:t>Físicos</a:t>
            </a:r>
            <a:r>
              <a:rPr lang="es-UY" dirty="0" smtClean="0"/>
              <a:t>:</a:t>
            </a:r>
          </a:p>
          <a:p>
            <a:pPr lvl="2"/>
            <a:r>
              <a:rPr lang="es-UY" dirty="0" smtClean="0"/>
              <a:t>Implementación de las estructuras de datos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79349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Lenguajes en ambientes bd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Provistos por DBMS:</a:t>
            </a:r>
          </a:p>
          <a:p>
            <a:pPr lvl="1"/>
            <a:r>
              <a:rPr lang="es-UY" dirty="0" smtClean="0"/>
              <a:t>Definición de Esquema:</a:t>
            </a:r>
          </a:p>
          <a:p>
            <a:pPr lvl="2"/>
            <a:r>
              <a:rPr lang="es-UY" b="1" dirty="0" smtClean="0"/>
              <a:t>VDL</a:t>
            </a:r>
            <a:r>
              <a:rPr lang="es-UY" dirty="0" smtClean="0"/>
              <a:t> (View Definition Language)</a:t>
            </a:r>
          </a:p>
          <a:p>
            <a:pPr lvl="2"/>
            <a:r>
              <a:rPr lang="es-UY" b="1" dirty="0" smtClean="0"/>
              <a:t>SDL</a:t>
            </a:r>
            <a:r>
              <a:rPr lang="es-UY" dirty="0" smtClean="0"/>
              <a:t> (Storage Definition Language)</a:t>
            </a:r>
          </a:p>
          <a:p>
            <a:pPr lvl="2"/>
            <a:r>
              <a:rPr lang="es-UY" b="1" dirty="0" smtClean="0"/>
              <a:t>DDL</a:t>
            </a:r>
            <a:r>
              <a:rPr lang="es-UY" dirty="0" smtClean="0"/>
              <a:t> (Data Definition Language)</a:t>
            </a:r>
          </a:p>
          <a:p>
            <a:pPr lvl="1"/>
            <a:r>
              <a:rPr lang="es-UY" dirty="0" smtClean="0"/>
              <a:t>Manipulación de la BD:</a:t>
            </a:r>
          </a:p>
          <a:p>
            <a:pPr lvl="2"/>
            <a:r>
              <a:rPr lang="es-UY" b="1" dirty="0" smtClean="0"/>
              <a:t>DML</a:t>
            </a:r>
            <a:r>
              <a:rPr lang="es-UY" dirty="0" smtClean="0"/>
              <a:t> (Data Manipulation Language): Modificaciones en instancias </a:t>
            </a:r>
          </a:p>
          <a:p>
            <a:pPr lvl="2"/>
            <a:r>
              <a:rPr lang="es-UY" b="1" dirty="0" smtClean="0"/>
              <a:t>QL</a:t>
            </a:r>
            <a:r>
              <a:rPr lang="es-UY" dirty="0" smtClean="0"/>
              <a:t> (Query Language):  Subconjunto del DML, sólo para consultas</a:t>
            </a:r>
          </a:p>
          <a:p>
            <a:pPr marL="0" indent="0">
              <a:buNone/>
            </a:pPr>
            <a:endParaRPr lang="es-UY" dirty="0" smtClean="0"/>
          </a:p>
          <a:p>
            <a:pPr lvl="3"/>
            <a:endParaRPr lang="es-UY" dirty="0" smtClean="0"/>
          </a:p>
          <a:p>
            <a:pPr lvl="3"/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90549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Tipos de </a:t>
            </a:r>
            <a:r>
              <a:rPr lang="es-UY" dirty="0"/>
              <a:t>Q</a:t>
            </a:r>
            <a:r>
              <a:rPr lang="es-UY" dirty="0" smtClean="0"/>
              <a:t>uery </a:t>
            </a:r>
            <a:r>
              <a:rPr lang="es-UY" dirty="0" smtClean="0"/>
              <a:t>L</a:t>
            </a:r>
            <a:r>
              <a:rPr lang="es-UY" dirty="0" smtClean="0"/>
              <a:t>anguage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b="1" dirty="0" smtClean="0"/>
              <a:t>Declarativos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Se especifica qué propiedad cumplen los datos</a:t>
            </a:r>
          </a:p>
          <a:p>
            <a:pPr lvl="1"/>
            <a:r>
              <a:rPr lang="es-UY" dirty="0" smtClean="0"/>
              <a:t>No se especifica cómo se recuperan de la BD</a:t>
            </a:r>
          </a:p>
          <a:p>
            <a:pPr lvl="1"/>
            <a:r>
              <a:rPr lang="es-UY" dirty="0" smtClean="0"/>
              <a:t>Suelen recuperar conjuntos de ítems (registros)</a:t>
            </a:r>
          </a:p>
          <a:p>
            <a:pPr lvl="1"/>
            <a:r>
              <a:rPr lang="es-UY" dirty="0" smtClean="0"/>
              <a:t>El DBMS define el plan de ejecución</a:t>
            </a:r>
          </a:p>
          <a:p>
            <a:pPr lvl="1"/>
            <a:endParaRPr lang="es-UY" dirty="0"/>
          </a:p>
          <a:p>
            <a:r>
              <a:rPr lang="es-UY" b="1" dirty="0" smtClean="0"/>
              <a:t>Procedurales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Se especifica un algoritmo que accede a estructuras del esquema lógico y recupera los datos ítem por ítem (registro a registro)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65185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Interfaces en ambientes bd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b="1" dirty="0" smtClean="0"/>
              <a:t>Interfaces Gráficas de Consulta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Se visualizan las estructuras en forma gráfica</a:t>
            </a:r>
          </a:p>
          <a:p>
            <a:pPr lvl="1"/>
            <a:endParaRPr lang="es-UY" dirty="0"/>
          </a:p>
          <a:p>
            <a:r>
              <a:rPr lang="es-UY" b="1" dirty="0" smtClean="0"/>
              <a:t>Interfaces de Lenguaje Natural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Se procesan frases y se traducen al QL</a:t>
            </a:r>
          </a:p>
          <a:p>
            <a:pPr lvl="1"/>
            <a:endParaRPr lang="es-UY" dirty="0"/>
          </a:p>
          <a:p>
            <a:r>
              <a:rPr lang="es-UY" b="1" dirty="0" smtClean="0"/>
              <a:t>Interfaces para Administración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Ambientes especializados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96182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Referencias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Capítulos 1, 2, 3 Elmasri-Navathe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8472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220</TotalTime>
  <Words>716</Words>
  <Application>Microsoft Office PowerPoint</Application>
  <PresentationFormat>Presentación en pantalla (4:3)</PresentationFormat>
  <Paragraphs>160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Mirador</vt:lpstr>
      <vt:lpstr>Bases de datos 1</vt:lpstr>
      <vt:lpstr>Conceptos generales </vt:lpstr>
      <vt:lpstr>Conceptos generales</vt:lpstr>
      <vt:lpstr>Elementos de una base de datos</vt:lpstr>
      <vt:lpstr>Actores</vt:lpstr>
      <vt:lpstr>Ventajas al usar bases de datos</vt:lpstr>
      <vt:lpstr>Al no usar bases de datos</vt:lpstr>
      <vt:lpstr>Propiedades de DBMS</vt:lpstr>
      <vt:lpstr>Arquitectura en 3 niveles</vt:lpstr>
      <vt:lpstr>Tipos de DBMS</vt:lpstr>
      <vt:lpstr>Estructura de un DBMS</vt:lpstr>
      <vt:lpstr>Porqué no usar DBMS</vt:lpstr>
      <vt:lpstr>Modelos de datos</vt:lpstr>
      <vt:lpstr>Modelos de datos</vt:lpstr>
      <vt:lpstr>Clasificación de modelos de datos</vt:lpstr>
      <vt:lpstr>Lenguajes en ambientes bd</vt:lpstr>
      <vt:lpstr>Tipos de Query Language</vt:lpstr>
      <vt:lpstr>Interfaces en ambientes bd</vt:lpstr>
      <vt:lpstr>Referencias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</dc:title>
  <dc:creator>Admin</dc:creator>
  <cp:lastModifiedBy>Admin</cp:lastModifiedBy>
  <cp:revision>39</cp:revision>
  <dcterms:created xsi:type="dcterms:W3CDTF">2012-06-29T01:36:22Z</dcterms:created>
  <dcterms:modified xsi:type="dcterms:W3CDTF">2012-08-10T03:54:37Z</dcterms:modified>
</cp:coreProperties>
</file>