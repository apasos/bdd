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256" r:id="rId2"/>
    <p:sldId id="258" r:id="rId3"/>
    <p:sldId id="259" r:id="rId4"/>
    <p:sldId id="260" r:id="rId5"/>
    <p:sldId id="262" r:id="rId6"/>
    <p:sldId id="264" r:id="rId7"/>
    <p:sldId id="265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80" r:id="rId16"/>
    <p:sldId id="273" r:id="rId17"/>
    <p:sldId id="274" r:id="rId18"/>
    <p:sldId id="281" r:id="rId19"/>
    <p:sldId id="277" r:id="rId20"/>
    <p:sldId id="278" r:id="rId21"/>
    <p:sldId id="282" r:id="rId22"/>
    <p:sldId id="284" r:id="rId23"/>
    <p:sldId id="285" r:id="rId24"/>
    <p:sldId id="286" r:id="rId25"/>
    <p:sldId id="287" r:id="rId26"/>
    <p:sldId id="290" r:id="rId27"/>
    <p:sldId id="294" r:id="rId28"/>
    <p:sldId id="288" r:id="rId29"/>
    <p:sldId id="291" r:id="rId30"/>
    <p:sldId id="292" r:id="rId31"/>
    <p:sldId id="293" r:id="rId32"/>
  </p:sldIdLst>
  <p:sldSz cx="9144000" cy="6858000" type="screen4x3"/>
  <p:notesSz cx="6858000" cy="9144000"/>
  <p:defaultTextStyle>
    <a:defPPr>
      <a:defRPr lang="es-U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F273953-7764-4819-A8B5-A8F86C5C6EF1}">
          <p14:sldIdLst>
            <p14:sldId id="256"/>
            <p14:sldId id="258"/>
            <p14:sldId id="259"/>
            <p14:sldId id="260"/>
            <p14:sldId id="262"/>
            <p14:sldId id="264"/>
            <p14:sldId id="265"/>
            <p14:sldId id="263"/>
            <p14:sldId id="267"/>
            <p14:sldId id="268"/>
            <p14:sldId id="269"/>
            <p14:sldId id="270"/>
            <p14:sldId id="271"/>
            <p14:sldId id="272"/>
            <p14:sldId id="280"/>
            <p14:sldId id="273"/>
            <p14:sldId id="274"/>
            <p14:sldId id="281"/>
            <p14:sldId id="277"/>
            <p14:sldId id="278"/>
            <p14:sldId id="282"/>
            <p14:sldId id="284"/>
            <p14:sldId id="285"/>
            <p14:sldId id="286"/>
            <p14:sldId id="287"/>
            <p14:sldId id="290"/>
            <p14:sldId id="294"/>
            <p14:sldId id="288"/>
            <p14:sldId id="291"/>
            <p14:sldId id="292"/>
            <p14:sldId id="29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1" autoAdjust="0"/>
    <p:restoredTop sz="94675" autoAdjust="0"/>
  </p:normalViewPr>
  <p:slideViewPr>
    <p:cSldViewPr>
      <p:cViewPr varScale="1">
        <p:scale>
          <a:sx n="107" d="100"/>
          <a:sy n="107" d="100"/>
        </p:scale>
        <p:origin x="-109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4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5DA50-3129-4763-8FDF-649283D504B1}" type="datetimeFigureOut">
              <a:rPr lang="es-UY" smtClean="0"/>
              <a:t>10/08/2012</a:t>
            </a:fld>
            <a:endParaRPr lang="es-UY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Y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EAFA7-AA30-4E9D-92F9-36E26634CBF6}" type="slidenum">
              <a:rPr lang="es-UY" smtClean="0"/>
              <a:t>‹Nº›</a:t>
            </a:fld>
            <a:endParaRPr lang="es-UY"/>
          </a:p>
        </p:txBody>
      </p:sp>
    </p:spTree>
    <p:extLst>
      <p:ext uri="{BB962C8B-B14F-4D97-AF65-F5344CB8AC3E}">
        <p14:creationId xmlns:p14="http://schemas.microsoft.com/office/powerpoint/2010/main" val="2486569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6D628E65-65CE-478E-951B-D508C8098725}" type="datetime1">
              <a:rPr lang="es-UY" smtClean="0"/>
              <a:t>10/08/2012</a:t>
            </a:fld>
            <a:endParaRPr lang="es-UY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E442E6E0-130A-4EFC-BC8C-002F7B0E2BC0}" type="datetime1">
              <a:rPr lang="es-UY" smtClean="0"/>
              <a:t>10/08/2012</a:t>
            </a:fld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BDFE4D1-1B7A-40C4-8DDC-BDEB6D0DD5C6}" type="datetime1">
              <a:rPr lang="es-UY" smtClean="0"/>
              <a:t>10/08/2012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UY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F726E-9325-42B3-897B-36CB6A9EF75A}" type="datetime1">
              <a:rPr lang="es-UY" smtClean="0"/>
              <a:t>10/08/2012</a:t>
            </a:fld>
            <a:endParaRPr lang="es-UY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E9D2-E6EA-4DE6-879C-E5CDECF7B6E0}" type="datetime1">
              <a:rPr lang="es-UY" smtClean="0"/>
              <a:t>10/08/2012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A9093CA-B03B-42CE-AEB7-F13D710422F1}" type="datetime1">
              <a:rPr lang="es-UY" smtClean="0"/>
              <a:t>10/08/2012</a:t>
            </a:fld>
            <a:endParaRPr lang="es-UY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D0CE3-3686-4096-950C-17105AA3A421}" type="datetime1">
              <a:rPr lang="es-UY" smtClean="0"/>
              <a:t>10/08/2012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3EE5E263-429D-41E7-8E99-2BBEA9A9B738}" type="datetime1">
              <a:rPr lang="es-UY" smtClean="0"/>
              <a:t>10/08/2012</a:t>
            </a:fld>
            <a:endParaRPr lang="es-UY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64B835D-8DA1-44AC-9F46-C87623A4BDB9}" type="datetime1">
              <a:rPr lang="es-UY" smtClean="0"/>
              <a:t>10/08/2012</a:t>
            </a:fld>
            <a:endParaRPr lang="es-UY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U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2C7CE-640A-41A9-9AB8-F2EFC7F286A7}" type="datetime1">
              <a:rPr lang="es-UY" smtClean="0"/>
              <a:t>10/08/2012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BCAE2-2183-41A9-BA3C-08B502C7C3E0}" type="datetime1">
              <a:rPr lang="es-UY" smtClean="0"/>
              <a:t>10/08/2012</a:t>
            </a:fld>
            <a:endParaRPr lang="es-UY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Y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C6A8437-7BD8-4C26-880E-0716AEDB6BC9}" type="datetime1">
              <a:rPr lang="es-UY" smtClean="0"/>
              <a:t>10/08/2012</a:t>
            </a:fld>
            <a:endParaRPr lang="es-UY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UY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9C0F65B-C05F-45B5-BE3C-CC494E07CBAF}" type="slidenum">
              <a:rPr lang="es-UY" smtClean="0"/>
              <a:t>‹Nº›</a:t>
            </a:fld>
            <a:endParaRPr lang="es-U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sqlzoo.net/" TargetMode="External"/><Relationship Id="rId2" Type="http://schemas.openxmlformats.org/officeDocument/2006/relationships/hyperlink" Target="http://www.w3schools.com/sql/default.asp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ostgresql.org/doc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Y" dirty="0" smtClean="0"/>
              <a:t>Bases de Datos 1</a:t>
            </a:r>
            <a:endParaRPr lang="es-UY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Teórico: Structured Query Language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8225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Historia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Los orígenes del SQL están ligados a los orígenes de las bases de datos relacionales</a:t>
            </a:r>
          </a:p>
          <a:p>
            <a:r>
              <a:rPr lang="es-UY" dirty="0"/>
              <a:t>Estandarizado por ANSI </a:t>
            </a:r>
            <a:r>
              <a:rPr lang="es-UY" dirty="0" smtClean="0"/>
              <a:t>en 1986 (SQL-86)</a:t>
            </a:r>
          </a:p>
          <a:p>
            <a:r>
              <a:rPr lang="es-UY" dirty="0" smtClean="0"/>
              <a:t>Hubieron varias revisiones: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SQL-89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SQL-92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SQL-1999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SQL-2003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SQL-2006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SQL-2008</a:t>
            </a:r>
          </a:p>
          <a:p>
            <a:pPr lvl="1">
              <a:buFont typeface="Courier New" pitchFamily="49" charset="0"/>
              <a:buChar char="o"/>
            </a:pPr>
            <a:r>
              <a:rPr lang="es-UY" dirty="0" smtClean="0"/>
              <a:t>SQL-2011</a:t>
            </a:r>
          </a:p>
        </p:txBody>
      </p:sp>
    </p:spTree>
    <p:extLst>
      <p:ext uri="{BB962C8B-B14F-4D97-AF65-F5344CB8AC3E}">
        <p14:creationId xmlns:p14="http://schemas.microsoft.com/office/powerpoint/2010/main" val="578264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Características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Opera sobre conjunto de tuplas</a:t>
            </a:r>
          </a:p>
          <a:p>
            <a:r>
              <a:rPr lang="es-UY" dirty="0" smtClean="0"/>
              <a:t>No elimina automáticamente tuplas repetidas</a:t>
            </a:r>
          </a:p>
          <a:p>
            <a:r>
              <a:rPr lang="es-UY" dirty="0" smtClean="0"/>
              <a:t>Lenguaje no procedural</a:t>
            </a:r>
          </a:p>
          <a:p>
            <a:r>
              <a:rPr lang="es-UY" dirty="0"/>
              <a:t>Su poder de expresión incluye el álgebra relacional y lo </a:t>
            </a:r>
            <a:r>
              <a:rPr lang="es-UY" dirty="0" smtClean="0"/>
              <a:t>extiende</a:t>
            </a:r>
          </a:p>
          <a:p>
            <a:r>
              <a:rPr lang="es-UY" dirty="0" smtClean="0"/>
              <a:t>Se distinguen dos sublenguajes:</a:t>
            </a:r>
          </a:p>
          <a:p>
            <a:pPr lvl="1">
              <a:buFont typeface="Wingdings" pitchFamily="2" charset="2"/>
              <a:buChar char="§"/>
            </a:pPr>
            <a:r>
              <a:rPr lang="es-UY" b="1" dirty="0" smtClean="0"/>
              <a:t>DDL</a:t>
            </a:r>
            <a:r>
              <a:rPr lang="es-UY" dirty="0" smtClean="0"/>
              <a:t> (Data Definition Language)</a:t>
            </a:r>
          </a:p>
          <a:p>
            <a:pPr lvl="1">
              <a:buFont typeface="Wingdings" pitchFamily="2" charset="2"/>
              <a:buChar char="§"/>
            </a:pPr>
            <a:r>
              <a:rPr lang="es-UY" b="1" dirty="0" smtClean="0"/>
              <a:t>DML</a:t>
            </a:r>
            <a:r>
              <a:rPr lang="es-UY" dirty="0" smtClean="0"/>
              <a:t> (Data Manipulation Language)</a:t>
            </a:r>
            <a:endParaRPr lang="es-UY" dirty="0"/>
          </a:p>
          <a:p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34166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Data Definition Language (DDL)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Permite crear, modificar y eliminar objetos de la base de datos:</a:t>
            </a:r>
          </a:p>
          <a:p>
            <a:pPr marL="0" indent="0">
              <a:buNone/>
            </a:pPr>
            <a:endParaRPr lang="es-UY" dirty="0" smtClean="0"/>
          </a:p>
          <a:p>
            <a:pPr lvl="1">
              <a:buFont typeface="Wingdings" pitchFamily="2" charset="2"/>
              <a:buChar char="§"/>
            </a:pPr>
            <a:r>
              <a:rPr lang="es-UY" b="1" dirty="0" smtClean="0"/>
              <a:t>Tablas</a:t>
            </a:r>
            <a:endParaRPr lang="es-UY" dirty="0" smtClean="0"/>
          </a:p>
          <a:p>
            <a:pPr lvl="2">
              <a:buFont typeface="Courier New" pitchFamily="49" charset="0"/>
              <a:buChar char="o"/>
            </a:pPr>
            <a:r>
              <a:rPr lang="es-UY" dirty="0"/>
              <a:t>Una tabla es un conjunto de </a:t>
            </a:r>
            <a:r>
              <a:rPr lang="es-UY" dirty="0" smtClean="0"/>
              <a:t>valores </a:t>
            </a:r>
            <a:r>
              <a:rPr lang="es-UY" dirty="0"/>
              <a:t>organizados en filas y </a:t>
            </a:r>
            <a:r>
              <a:rPr lang="es-UY" dirty="0" smtClean="0"/>
              <a:t>columnas. Es la representación de una relación aunque no son estrictamente equivalentes</a:t>
            </a:r>
          </a:p>
          <a:p>
            <a:pPr lvl="2">
              <a:buFont typeface="Wingdings" pitchFamily="2" charset="2"/>
              <a:buChar char="§"/>
            </a:pPr>
            <a:endParaRPr lang="es-UY" dirty="0" smtClean="0"/>
          </a:p>
          <a:p>
            <a:pPr lvl="1">
              <a:buFont typeface="Wingdings" pitchFamily="2" charset="2"/>
              <a:buChar char="§"/>
            </a:pPr>
            <a:r>
              <a:rPr lang="es-UY" b="1" dirty="0" smtClean="0"/>
              <a:t>Vistas</a:t>
            </a:r>
            <a:endParaRPr lang="es-UY" dirty="0" smtClean="0"/>
          </a:p>
          <a:p>
            <a:pPr lvl="2">
              <a:buFont typeface="Courier New" pitchFamily="49" charset="0"/>
              <a:buChar char="o"/>
            </a:pPr>
            <a:r>
              <a:rPr lang="es-UY" dirty="0" smtClean="0"/>
              <a:t>Una vista es una tabla virtual basada en el resultado de una consulta. Pueden usarse en consultas como si fueran tablas</a:t>
            </a:r>
          </a:p>
          <a:p>
            <a:pPr lvl="2">
              <a:buFont typeface="Wingdings" pitchFamily="2" charset="2"/>
              <a:buChar char="§"/>
            </a:pPr>
            <a:endParaRPr lang="es-UY" dirty="0" smtClean="0"/>
          </a:p>
          <a:p>
            <a:pPr lvl="1">
              <a:buFont typeface="Wingdings" pitchFamily="2" charset="2"/>
              <a:buChar char="§"/>
            </a:pPr>
            <a:r>
              <a:rPr lang="es-UY" b="1" dirty="0" smtClean="0"/>
              <a:t>Usuarios</a:t>
            </a:r>
          </a:p>
          <a:p>
            <a:pPr lvl="1"/>
            <a:endParaRPr lang="es-U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01943" lvl="1" indent="0">
              <a:buNone/>
            </a:pPr>
            <a:endParaRPr lang="es-UY" dirty="0" smtClean="0"/>
          </a:p>
          <a:p>
            <a:pPr lvl="1"/>
            <a:endParaRPr lang="es-UY" dirty="0"/>
          </a:p>
          <a:p>
            <a:pPr marL="301943" lvl="1" indent="0">
              <a:buNone/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226350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Operaciones sobre tablas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UY" b="1" dirty="0" smtClean="0"/>
              <a:t>CREATE TABLE</a:t>
            </a:r>
            <a:endParaRPr lang="es-UY" dirty="0" smtClean="0"/>
          </a:p>
          <a:p>
            <a:pPr lvl="1"/>
            <a:r>
              <a:rPr lang="es-UY" dirty="0" smtClean="0"/>
              <a:t>Crea una nueva tabla</a:t>
            </a:r>
          </a:p>
          <a:p>
            <a:pPr lvl="1"/>
            <a:r>
              <a:rPr lang="es-UY" dirty="0" smtClean="0"/>
              <a:t>Parámetros: </a:t>
            </a:r>
          </a:p>
          <a:p>
            <a:pPr lvl="2"/>
            <a:r>
              <a:rPr lang="es-UY" dirty="0" smtClean="0"/>
              <a:t>Nombre de la tabla</a:t>
            </a:r>
          </a:p>
          <a:p>
            <a:pPr lvl="2"/>
            <a:r>
              <a:rPr lang="es-UY" dirty="0"/>
              <a:t>N</a:t>
            </a:r>
            <a:r>
              <a:rPr lang="es-UY" dirty="0" smtClean="0"/>
              <a:t>ombre y tipo de dato de cada columna</a:t>
            </a:r>
          </a:p>
          <a:p>
            <a:pPr lvl="2"/>
            <a:r>
              <a:rPr lang="es-UY" dirty="0" smtClean="0"/>
              <a:t>Restricciones de clave primaria y clave foránea sobre otras tablas</a:t>
            </a:r>
          </a:p>
          <a:p>
            <a:pPr lvl="1"/>
            <a:endParaRPr lang="es-UY" dirty="0" smtClean="0"/>
          </a:p>
          <a:p>
            <a:r>
              <a:rPr lang="es-UY" b="1" dirty="0" smtClean="0"/>
              <a:t>ALTER TABLE</a:t>
            </a:r>
            <a:endParaRPr lang="es-UY" dirty="0" smtClean="0"/>
          </a:p>
          <a:p>
            <a:pPr lvl="1"/>
            <a:r>
              <a:rPr lang="es-UY" dirty="0" smtClean="0"/>
              <a:t>Modifica una tabla existente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b="1" dirty="0" smtClean="0"/>
              <a:t>DROP TABLE</a:t>
            </a:r>
            <a:endParaRPr lang="es-UY" dirty="0" smtClean="0"/>
          </a:p>
          <a:p>
            <a:pPr lvl="1"/>
            <a:r>
              <a:rPr lang="es-UY" dirty="0" smtClean="0"/>
              <a:t>Elimina una tabla existente y elimina los datos almacenados en ella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8420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Ejemplo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Sistema de Información relativo a hospitales:</a:t>
            </a:r>
          </a:p>
          <a:p>
            <a:pPr marL="0" indent="0">
              <a:buNone/>
            </a:pPr>
            <a:endParaRPr lang="es-UY" b="1" dirty="0" smtClean="0"/>
          </a:p>
          <a:p>
            <a:pPr marL="301943" lvl="1" indent="0">
              <a:buNone/>
            </a:pPr>
            <a:r>
              <a:rPr lang="es-UY" b="1" dirty="0" smtClean="0"/>
              <a:t>HOSPITALES</a:t>
            </a:r>
            <a:r>
              <a:rPr lang="es-UY" dirty="0" smtClean="0"/>
              <a:t>(</a:t>
            </a:r>
            <a:r>
              <a:rPr lang="es-UY" u="sng" dirty="0" smtClean="0"/>
              <a:t>codHosp</a:t>
            </a:r>
            <a:r>
              <a:rPr lang="es-UY" dirty="0" smtClean="0"/>
              <a:t>, nomHosp, direccion)</a:t>
            </a:r>
          </a:p>
          <a:p>
            <a:pPr marL="301943" lvl="1" indent="0">
              <a:buNone/>
            </a:pPr>
            <a:r>
              <a:rPr lang="es-UY" b="1" dirty="0" smtClean="0"/>
              <a:t>MEDICOS</a:t>
            </a:r>
            <a:r>
              <a:rPr lang="es-UY" dirty="0" smtClean="0"/>
              <a:t>(</a:t>
            </a:r>
            <a:r>
              <a:rPr lang="es-UY" u="sng" dirty="0" err="1" smtClean="0"/>
              <a:t>ciMed</a:t>
            </a:r>
            <a:r>
              <a:rPr lang="es-UY" dirty="0" smtClean="0"/>
              <a:t>, nomMed, especialidad)</a:t>
            </a:r>
          </a:p>
          <a:p>
            <a:pPr marL="301943" lvl="1" indent="0">
              <a:buNone/>
            </a:pPr>
            <a:r>
              <a:rPr lang="es-UY" b="1" dirty="0" smtClean="0"/>
              <a:t>PACIENTES</a:t>
            </a:r>
            <a:r>
              <a:rPr lang="es-UY" dirty="0" smtClean="0"/>
              <a:t>(</a:t>
            </a:r>
            <a:r>
              <a:rPr lang="es-UY" u="sng" dirty="0" err="1" smtClean="0"/>
              <a:t>ciPac</a:t>
            </a:r>
            <a:r>
              <a:rPr lang="es-UY" dirty="0" smtClean="0"/>
              <a:t>, nomPac, fchNac, sexo)</a:t>
            </a:r>
          </a:p>
          <a:p>
            <a:pPr marL="301943" lvl="1" indent="0">
              <a:buNone/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59796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Ejemplo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01943" lvl="1" indent="0">
              <a:buNone/>
            </a:pPr>
            <a:r>
              <a:rPr lang="es-UY" dirty="0" smtClean="0"/>
              <a:t>Creo la tabla hospitales:</a:t>
            </a:r>
          </a:p>
          <a:p>
            <a:pPr marL="301943" lvl="1" indent="0">
              <a:buNone/>
            </a:pPr>
            <a:endParaRPr lang="es-UY" b="1" dirty="0" smtClean="0"/>
          </a:p>
          <a:p>
            <a:pPr marL="301943" lvl="1" indent="0">
              <a:buNone/>
            </a:pPr>
            <a:r>
              <a:rPr lang="es-UY" b="1" dirty="0" smtClean="0"/>
              <a:t>CREATE </a:t>
            </a:r>
            <a:r>
              <a:rPr lang="es-UY" b="1" dirty="0"/>
              <a:t>TABLE </a:t>
            </a:r>
            <a:r>
              <a:rPr lang="es-UY" dirty="0" smtClean="0"/>
              <a:t>hospitales(</a:t>
            </a:r>
          </a:p>
          <a:p>
            <a:pPr marL="301943" lvl="1" indent="0">
              <a:buNone/>
            </a:pPr>
            <a:r>
              <a:rPr lang="es-UY" dirty="0" smtClean="0"/>
              <a:t>	codHosp integer NOT NULL,</a:t>
            </a:r>
          </a:p>
          <a:p>
            <a:pPr marL="301943" lvl="1" indent="0">
              <a:buNone/>
            </a:pPr>
            <a:r>
              <a:rPr lang="es-UY" dirty="0"/>
              <a:t>	nomHosp character </a:t>
            </a:r>
            <a:r>
              <a:rPr lang="es-UY" dirty="0" smtClean="0"/>
              <a:t>varying(40),</a:t>
            </a:r>
          </a:p>
          <a:p>
            <a:pPr marL="301943" lvl="1" indent="0">
              <a:buNone/>
            </a:pPr>
            <a:r>
              <a:rPr lang="es-UY" dirty="0"/>
              <a:t>	</a:t>
            </a:r>
            <a:r>
              <a:rPr lang="es-UY" dirty="0" smtClean="0"/>
              <a:t>direccion </a:t>
            </a:r>
            <a:r>
              <a:rPr lang="es-UY" dirty="0"/>
              <a:t>character </a:t>
            </a:r>
            <a:r>
              <a:rPr lang="es-UY" dirty="0" smtClean="0"/>
              <a:t>varying(20)</a:t>
            </a:r>
            <a:endParaRPr lang="es-UY" dirty="0"/>
          </a:p>
          <a:p>
            <a:pPr marL="301943" lvl="1" indent="0">
              <a:buNone/>
            </a:pPr>
            <a:r>
              <a:rPr lang="es-UY" dirty="0" smtClean="0"/>
              <a:t>);</a:t>
            </a:r>
          </a:p>
          <a:p>
            <a:pPr marL="301943" lvl="1" indent="0">
              <a:buNone/>
            </a:pPr>
            <a:endParaRPr lang="es-UY" dirty="0"/>
          </a:p>
          <a:p>
            <a:pPr marL="301943" lvl="1" indent="0">
              <a:buNone/>
            </a:pPr>
            <a:r>
              <a:rPr lang="es-UY" b="1" dirty="0" smtClean="0"/>
              <a:t>ALTER TABLE</a:t>
            </a:r>
            <a:r>
              <a:rPr lang="es-UY" dirty="0" smtClean="0"/>
              <a:t> hospitales</a:t>
            </a:r>
          </a:p>
          <a:p>
            <a:pPr marL="301943" lvl="1" indent="0">
              <a:buNone/>
            </a:pPr>
            <a:r>
              <a:rPr lang="es-UY" b="1" dirty="0" smtClean="0"/>
              <a:t>add constraint</a:t>
            </a:r>
            <a:r>
              <a:rPr lang="es-UY" dirty="0" smtClean="0"/>
              <a:t> hospitales_pkey PRIMARY KEY (codHosp);</a:t>
            </a:r>
          </a:p>
          <a:p>
            <a:pPr marL="301943" lvl="1" indent="0">
              <a:buNone/>
            </a:pPr>
            <a:endParaRPr lang="es-UY" dirty="0"/>
          </a:p>
          <a:p>
            <a:pPr marL="301943" lvl="1" indent="0">
              <a:buNone/>
            </a:pPr>
            <a:endParaRPr lang="es-UY" dirty="0" smtClean="0"/>
          </a:p>
          <a:p>
            <a:pPr marL="301943" lvl="1" indent="0">
              <a:buNone/>
            </a:pPr>
            <a:endParaRPr lang="es-UY" dirty="0" smtClean="0"/>
          </a:p>
          <a:p>
            <a:pPr marL="301943" lvl="1" indent="0">
              <a:buNone/>
            </a:pPr>
            <a:endParaRPr lang="es-UY" dirty="0"/>
          </a:p>
          <a:p>
            <a:pPr marL="0" indent="0">
              <a:buNone/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855157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Operaciones sobre vistas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UY" b="1" dirty="0" smtClean="0"/>
              <a:t>CREATE VIEW</a:t>
            </a:r>
            <a:endParaRPr lang="es-UY" dirty="0" smtClean="0"/>
          </a:p>
          <a:p>
            <a:pPr lvl="1">
              <a:buFont typeface="Wingdings" pitchFamily="2" charset="2"/>
              <a:buChar char="§"/>
            </a:pPr>
            <a:r>
              <a:rPr lang="es-UY" dirty="0" smtClean="0"/>
              <a:t>Crea una vista</a:t>
            </a:r>
          </a:p>
          <a:p>
            <a:pPr lvl="1">
              <a:buFont typeface="Wingdings" pitchFamily="2" charset="2"/>
              <a:buChar char="§"/>
            </a:pPr>
            <a:r>
              <a:rPr lang="es-UY" dirty="0" smtClean="0"/>
              <a:t>Ejemplo: Creo </a:t>
            </a:r>
            <a:r>
              <a:rPr lang="es-UY" dirty="0"/>
              <a:t>una vista sobre la tabla hospitales en la que </a:t>
            </a:r>
            <a:r>
              <a:rPr lang="es-UY" b="1" dirty="0"/>
              <a:t>no</a:t>
            </a:r>
            <a:r>
              <a:rPr lang="es-UY" dirty="0"/>
              <a:t> aparezca la dirección:</a:t>
            </a:r>
          </a:p>
          <a:p>
            <a:pPr marL="301943" lvl="1" indent="0">
              <a:buNone/>
            </a:pPr>
            <a:endParaRPr lang="es-UY" dirty="0"/>
          </a:p>
          <a:p>
            <a:pPr marL="301943" lvl="1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  <a:r>
              <a:rPr lang="en-US" b="1" dirty="0" smtClean="0"/>
              <a:t>CREATE </a:t>
            </a:r>
            <a:r>
              <a:rPr lang="en-US" b="1" dirty="0"/>
              <a:t>VIEW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/>
              <a:t>hospitalesSinDir</a:t>
            </a:r>
            <a:r>
              <a:rPr lang="en-US" dirty="0"/>
              <a:t> </a:t>
            </a:r>
            <a:r>
              <a:rPr lang="en-US" b="1" dirty="0"/>
              <a:t>AS</a:t>
            </a:r>
          </a:p>
          <a:p>
            <a:pPr marL="301943" lvl="1" indent="0">
              <a:buNone/>
            </a:pPr>
            <a:r>
              <a:rPr lang="en-US" dirty="0" smtClean="0"/>
              <a:t>        (SELECT </a:t>
            </a:r>
            <a:r>
              <a:rPr lang="en-US" dirty="0" err="1"/>
              <a:t>codHosp</a:t>
            </a:r>
            <a:r>
              <a:rPr lang="en-US" dirty="0"/>
              <a:t>, </a:t>
            </a:r>
            <a:r>
              <a:rPr lang="en-US" dirty="0" err="1" smtClean="0"/>
              <a:t>nomHosp</a:t>
            </a:r>
            <a:endParaRPr lang="en-US" dirty="0"/>
          </a:p>
          <a:p>
            <a:pPr marL="301943" lvl="1" indent="0">
              <a:buNone/>
            </a:pPr>
            <a:r>
              <a:rPr lang="en-US" dirty="0" smtClean="0"/>
              <a:t>          FROM </a:t>
            </a:r>
            <a:r>
              <a:rPr lang="en-US" dirty="0" err="1"/>
              <a:t>hospitales</a:t>
            </a:r>
            <a:endParaRPr lang="en-US" dirty="0"/>
          </a:p>
          <a:p>
            <a:pPr marL="301943" lvl="1" indent="0">
              <a:buNone/>
            </a:pPr>
            <a:r>
              <a:rPr lang="en-US" dirty="0" smtClean="0"/>
              <a:t>        );</a:t>
            </a:r>
            <a:endParaRPr lang="en-US" dirty="0"/>
          </a:p>
          <a:p>
            <a:pPr marL="0" indent="0">
              <a:buNone/>
            </a:pPr>
            <a:endParaRPr lang="es-UY" dirty="0" smtClean="0"/>
          </a:p>
          <a:p>
            <a:r>
              <a:rPr lang="es-UY" b="1" dirty="0" smtClean="0"/>
              <a:t>ALTER VIEW</a:t>
            </a:r>
            <a:endParaRPr lang="es-UY" dirty="0"/>
          </a:p>
          <a:p>
            <a:pPr lvl="1">
              <a:buFont typeface="Wingdings" pitchFamily="2" charset="2"/>
              <a:buChar char="§"/>
            </a:pPr>
            <a:r>
              <a:rPr lang="es-UY" dirty="0" smtClean="0"/>
              <a:t>Modifica una vista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b="1" dirty="0" smtClean="0"/>
              <a:t>DROP VIEW</a:t>
            </a:r>
            <a:endParaRPr lang="es-UY" dirty="0"/>
          </a:p>
          <a:p>
            <a:pPr lvl="1">
              <a:buFont typeface="Wingdings" pitchFamily="2" charset="2"/>
              <a:buChar char="§"/>
            </a:pPr>
            <a:r>
              <a:rPr lang="es-UY" dirty="0" smtClean="0"/>
              <a:t>Elimina una vista</a:t>
            </a:r>
          </a:p>
          <a:p>
            <a:endParaRPr lang="es-UY" dirty="0" smtClean="0"/>
          </a:p>
        </p:txBody>
      </p:sp>
    </p:spTree>
    <p:extLst>
      <p:ext uri="{BB962C8B-B14F-4D97-AF65-F5344CB8AC3E}">
        <p14:creationId xmlns:p14="http://schemas.microsoft.com/office/powerpoint/2010/main" val="351803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Data Manipulation Language (DML)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dirty="0" smtClean="0"/>
              <a:t>Permite crear, modificar, eliminar y recuperar datos:</a:t>
            </a:r>
          </a:p>
          <a:p>
            <a:pPr marL="0" indent="0">
              <a:buNone/>
            </a:pPr>
            <a:endParaRPr lang="es-UY" dirty="0"/>
          </a:p>
          <a:p>
            <a:pPr lvl="1"/>
            <a:r>
              <a:rPr lang="es-UY" b="1" dirty="0" smtClean="0"/>
              <a:t>INSERT</a:t>
            </a:r>
            <a:endParaRPr lang="es-UY" dirty="0" smtClean="0"/>
          </a:p>
          <a:p>
            <a:pPr lvl="2"/>
            <a:r>
              <a:rPr lang="es-UY" dirty="0" smtClean="0"/>
              <a:t>Agrega tuplas a una tabla</a:t>
            </a:r>
          </a:p>
          <a:p>
            <a:pPr lvl="2"/>
            <a:r>
              <a:rPr lang="es-UY" dirty="0" smtClean="0"/>
              <a:t>Ejemplo: </a:t>
            </a:r>
          </a:p>
          <a:p>
            <a:pPr marL="627063" lvl="2" indent="0">
              <a:buNone/>
            </a:pPr>
            <a:r>
              <a:rPr lang="es-UY" dirty="0"/>
              <a:t> </a:t>
            </a:r>
            <a:r>
              <a:rPr lang="es-UY" dirty="0" smtClean="0"/>
              <a:t>    </a:t>
            </a:r>
            <a:r>
              <a:rPr lang="es-UY" b="1" dirty="0" smtClean="0"/>
              <a:t>INSERT INTO </a:t>
            </a:r>
            <a:r>
              <a:rPr lang="es-UY" dirty="0" smtClean="0"/>
              <a:t>hospitales </a:t>
            </a:r>
            <a:r>
              <a:rPr lang="es-UY" b="1" dirty="0" smtClean="0"/>
              <a:t>VALUES</a:t>
            </a:r>
            <a:r>
              <a:rPr lang="es-UY" dirty="0" smtClean="0"/>
              <a:t> (1, ‘Maciel’, ‘25 de </a:t>
            </a:r>
            <a:endParaRPr lang="es-UY" dirty="0" smtClean="0"/>
          </a:p>
          <a:p>
            <a:pPr marL="627063" lvl="2" indent="0">
              <a:buNone/>
            </a:pPr>
            <a:r>
              <a:rPr lang="es-UY" dirty="0"/>
              <a:t> </a:t>
            </a:r>
            <a:r>
              <a:rPr lang="es-UY" dirty="0" smtClean="0"/>
              <a:t>    </a:t>
            </a:r>
            <a:r>
              <a:rPr lang="es-UY" dirty="0" smtClean="0"/>
              <a:t>Mayo </a:t>
            </a:r>
            <a:r>
              <a:rPr lang="es-UY" dirty="0" smtClean="0"/>
              <a:t>174’);</a:t>
            </a:r>
          </a:p>
          <a:p>
            <a:pPr marL="627063" lvl="2" indent="0">
              <a:buNone/>
            </a:pPr>
            <a:endParaRPr lang="es-UY" dirty="0" smtClean="0"/>
          </a:p>
          <a:p>
            <a:pPr lvl="1"/>
            <a:r>
              <a:rPr lang="es-UY" b="1" dirty="0" smtClean="0"/>
              <a:t>UPDATE</a:t>
            </a:r>
            <a:endParaRPr lang="es-UY" dirty="0" smtClean="0"/>
          </a:p>
          <a:p>
            <a:pPr lvl="2"/>
            <a:r>
              <a:rPr lang="es-UY" dirty="0" smtClean="0"/>
              <a:t>Actualiza tuplas de una tabla</a:t>
            </a:r>
          </a:p>
          <a:p>
            <a:pPr lvl="2"/>
            <a:r>
              <a:rPr lang="es-UY" dirty="0" smtClean="0"/>
              <a:t>Ejemplo:</a:t>
            </a:r>
          </a:p>
          <a:p>
            <a:pPr marL="627063" lvl="2" indent="0">
              <a:buNone/>
            </a:pPr>
            <a:r>
              <a:rPr lang="es-UY" dirty="0"/>
              <a:t> </a:t>
            </a:r>
            <a:r>
              <a:rPr lang="es-UY" dirty="0" smtClean="0"/>
              <a:t>    </a:t>
            </a:r>
            <a:r>
              <a:rPr lang="es-UY" b="1" dirty="0" smtClean="0"/>
              <a:t>UPDATE</a:t>
            </a:r>
            <a:r>
              <a:rPr lang="es-UY" dirty="0" smtClean="0"/>
              <a:t> hospitales </a:t>
            </a:r>
            <a:r>
              <a:rPr lang="es-UY" b="1" dirty="0" smtClean="0"/>
              <a:t>SET </a:t>
            </a:r>
            <a:r>
              <a:rPr lang="es-UY" dirty="0" smtClean="0"/>
              <a:t>direccion = </a:t>
            </a:r>
            <a:r>
              <a:rPr lang="es-UY" dirty="0"/>
              <a:t>‘25 de Mayo </a:t>
            </a:r>
            <a:r>
              <a:rPr lang="es-UY" dirty="0" smtClean="0"/>
              <a:t>172</a:t>
            </a:r>
            <a:r>
              <a:rPr lang="es-UY" dirty="0" smtClean="0"/>
              <a:t>’)</a:t>
            </a:r>
          </a:p>
          <a:p>
            <a:pPr marL="627063" lvl="2" indent="0">
              <a:buNone/>
            </a:pPr>
            <a:r>
              <a:rPr lang="es-UY" dirty="0"/>
              <a:t> </a:t>
            </a:r>
            <a:r>
              <a:rPr lang="es-UY" dirty="0" smtClean="0"/>
              <a:t>   </a:t>
            </a:r>
            <a:r>
              <a:rPr lang="es-UY" dirty="0" smtClean="0"/>
              <a:t> </a:t>
            </a:r>
            <a:r>
              <a:rPr lang="es-UY" b="1" dirty="0" smtClean="0"/>
              <a:t>WHERE</a:t>
            </a:r>
            <a:r>
              <a:rPr lang="es-UY" dirty="0"/>
              <a:t> </a:t>
            </a:r>
            <a:r>
              <a:rPr lang="es-UY" dirty="0" err="1" smtClean="0"/>
              <a:t>codHosp</a:t>
            </a:r>
            <a:r>
              <a:rPr lang="es-UY" dirty="0" smtClean="0"/>
              <a:t> </a:t>
            </a:r>
            <a:r>
              <a:rPr lang="es-UY" dirty="0" smtClean="0"/>
              <a:t>= 1;</a:t>
            </a:r>
            <a:r>
              <a:rPr lang="es-UY" dirty="0"/>
              <a:t>	</a:t>
            </a:r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600131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DML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1"/>
            <a:r>
              <a:rPr lang="es-UY" b="1" dirty="0" smtClean="0"/>
              <a:t>DELETE</a:t>
            </a:r>
            <a:endParaRPr lang="es-UY" dirty="0" smtClean="0"/>
          </a:p>
          <a:p>
            <a:pPr lvl="2"/>
            <a:r>
              <a:rPr lang="es-UY" dirty="0" smtClean="0"/>
              <a:t>Borra tuplas de una tabla</a:t>
            </a:r>
          </a:p>
          <a:p>
            <a:pPr lvl="2"/>
            <a:r>
              <a:rPr lang="es-UY" dirty="0" smtClean="0"/>
              <a:t>Ejemplo:</a:t>
            </a:r>
          </a:p>
          <a:p>
            <a:pPr marL="627063" lvl="2" indent="0">
              <a:buNone/>
            </a:pPr>
            <a:r>
              <a:rPr lang="es-UY" dirty="0" smtClean="0"/>
              <a:t>    </a:t>
            </a:r>
            <a:r>
              <a:rPr lang="es-UY" b="1" dirty="0" smtClean="0"/>
              <a:t>DELETE </a:t>
            </a:r>
            <a:r>
              <a:rPr lang="es-UY" dirty="0" smtClean="0"/>
              <a:t>hospitales </a:t>
            </a:r>
            <a:r>
              <a:rPr lang="es-UY" b="1" dirty="0" smtClean="0"/>
              <a:t>WHERE</a:t>
            </a:r>
            <a:r>
              <a:rPr lang="es-UY" dirty="0" smtClean="0"/>
              <a:t> nomHosp = ‘Maciel’;</a:t>
            </a:r>
            <a:endParaRPr lang="es-UY" dirty="0"/>
          </a:p>
          <a:p>
            <a:pPr marL="627063" lvl="2" indent="0">
              <a:buNone/>
            </a:pPr>
            <a:endParaRPr lang="es-UY" dirty="0" smtClean="0"/>
          </a:p>
          <a:p>
            <a:pPr lvl="1"/>
            <a:r>
              <a:rPr lang="es-UY" b="1" dirty="0" smtClean="0"/>
              <a:t>SELECT</a:t>
            </a:r>
            <a:endParaRPr lang="es-UY" dirty="0"/>
          </a:p>
          <a:p>
            <a:pPr lvl="2"/>
            <a:r>
              <a:rPr lang="es-UY" dirty="0" smtClean="0"/>
              <a:t>Recupera datos</a:t>
            </a:r>
            <a:endParaRPr lang="es-UY" dirty="0"/>
          </a:p>
          <a:p>
            <a:pPr lvl="2"/>
            <a:r>
              <a:rPr lang="es-UY" dirty="0"/>
              <a:t>Ejemplo:</a:t>
            </a:r>
          </a:p>
          <a:p>
            <a:pPr marL="627063" lvl="2" indent="0">
              <a:buNone/>
            </a:pPr>
            <a:r>
              <a:rPr lang="es-UY" dirty="0"/>
              <a:t>    </a:t>
            </a:r>
            <a:r>
              <a:rPr lang="es-UY" b="1" dirty="0" smtClean="0"/>
              <a:t>SELECT </a:t>
            </a:r>
            <a:r>
              <a:rPr lang="es-UY" dirty="0" smtClean="0"/>
              <a:t>direccion </a:t>
            </a:r>
          </a:p>
          <a:p>
            <a:pPr marL="627063" lvl="2" indent="0">
              <a:buNone/>
            </a:pPr>
            <a:r>
              <a:rPr lang="es-UY" dirty="0" smtClean="0"/>
              <a:t>    </a:t>
            </a:r>
            <a:r>
              <a:rPr lang="es-UY" b="1" dirty="0" smtClean="0"/>
              <a:t>FROM </a:t>
            </a:r>
            <a:r>
              <a:rPr lang="es-UY" dirty="0" smtClean="0"/>
              <a:t>hospitales</a:t>
            </a:r>
          </a:p>
          <a:p>
            <a:pPr marL="627063" lvl="2" indent="0">
              <a:buNone/>
            </a:pPr>
            <a:r>
              <a:rPr lang="es-UY" b="1" dirty="0"/>
              <a:t> </a:t>
            </a:r>
            <a:r>
              <a:rPr lang="es-UY" b="1" dirty="0" smtClean="0"/>
              <a:t>   WHERE</a:t>
            </a:r>
            <a:r>
              <a:rPr lang="es-UY" dirty="0" smtClean="0"/>
              <a:t> </a:t>
            </a:r>
            <a:r>
              <a:rPr lang="es-UY" dirty="0"/>
              <a:t>nomHosp = ‘Maciel’;</a:t>
            </a:r>
          </a:p>
          <a:p>
            <a:pPr marL="627063" lvl="2" indent="0">
              <a:buNone/>
            </a:pPr>
            <a:endParaRPr lang="es-UY" dirty="0" smtClean="0"/>
          </a:p>
        </p:txBody>
      </p:sp>
    </p:spTree>
    <p:extLst>
      <p:ext uri="{BB962C8B-B14F-4D97-AF65-F5344CB8AC3E}">
        <p14:creationId xmlns:p14="http://schemas.microsoft.com/office/powerpoint/2010/main" val="1976537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Recuperación de datos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Sintaxis:</a:t>
            </a:r>
          </a:p>
          <a:p>
            <a:pPr marL="0" indent="0">
              <a:buNone/>
            </a:pPr>
            <a:endParaRPr lang="es-UY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s-U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s-UY" b="1" dirty="0" smtClean="0"/>
              <a:t>SELECT</a:t>
            </a:r>
            <a:r>
              <a:rPr lang="es-UY" dirty="0" smtClean="0"/>
              <a:t> </a:t>
            </a:r>
            <a:r>
              <a:rPr lang="es-UY" dirty="0" smtClean="0"/>
              <a:t>A1, …, An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</a:t>
            </a:r>
            <a:r>
              <a:rPr lang="es-UY" b="1" dirty="0" smtClean="0"/>
              <a:t>FROM </a:t>
            </a:r>
            <a:r>
              <a:rPr lang="es-UY" dirty="0" smtClean="0"/>
              <a:t>R1, …, Rm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</a:t>
            </a:r>
            <a:r>
              <a:rPr lang="es-UY" b="1" dirty="0" smtClean="0"/>
              <a:t>WHERE</a:t>
            </a:r>
            <a:r>
              <a:rPr lang="es-UY" dirty="0" smtClean="0"/>
              <a:t> </a:t>
            </a:r>
            <a:r>
              <a:rPr lang="es-UY" dirty="0" smtClean="0"/>
              <a:t>C;</a:t>
            </a:r>
          </a:p>
          <a:p>
            <a:pPr marL="0" lvl="1" indent="0">
              <a:buNone/>
            </a:pPr>
            <a:r>
              <a:rPr lang="es-UY" dirty="0"/>
              <a:t>	</a:t>
            </a:r>
            <a:endParaRPr lang="es-UY" dirty="0" smtClean="0"/>
          </a:p>
          <a:p>
            <a:pPr marL="0" lvl="1" indent="0">
              <a:buNone/>
            </a:pPr>
            <a:r>
              <a:rPr lang="es-UY" dirty="0"/>
              <a:t> </a:t>
            </a:r>
            <a:r>
              <a:rPr lang="es-UY" dirty="0" smtClean="0"/>
              <a:t>   </a:t>
            </a:r>
            <a:r>
              <a:rPr lang="es-UY" dirty="0" smtClean="0"/>
              <a:t>donde</a:t>
            </a:r>
            <a:r>
              <a:rPr lang="es-UY" dirty="0" smtClean="0"/>
              <a:t>: </a:t>
            </a:r>
          </a:p>
          <a:p>
            <a:pPr marL="909637" lvl="3" indent="-342900">
              <a:buFont typeface="Wingdings" pitchFamily="2" charset="2"/>
              <a:buChar char="§"/>
            </a:pPr>
            <a:r>
              <a:rPr lang="es-UY" dirty="0" smtClean="0"/>
              <a:t>A1</a:t>
            </a:r>
            <a:r>
              <a:rPr lang="es-UY" dirty="0"/>
              <a:t>, …, </a:t>
            </a:r>
            <a:r>
              <a:rPr lang="es-UY" dirty="0" smtClean="0"/>
              <a:t>An son nombres de atributos. También se puede utilizar (*)</a:t>
            </a:r>
            <a:endParaRPr lang="es-UY" dirty="0"/>
          </a:p>
          <a:p>
            <a:pPr marL="909637" lvl="3" indent="-342900">
              <a:buFont typeface="Wingdings" pitchFamily="2" charset="2"/>
              <a:buChar char="§"/>
            </a:pPr>
            <a:r>
              <a:rPr lang="es-UY" dirty="0" smtClean="0"/>
              <a:t>R1</a:t>
            </a:r>
            <a:r>
              <a:rPr lang="es-UY" dirty="0"/>
              <a:t>, …, </a:t>
            </a:r>
            <a:r>
              <a:rPr lang="es-UY" dirty="0" smtClean="0"/>
              <a:t>Rm son nombres de tablas</a:t>
            </a:r>
          </a:p>
          <a:p>
            <a:pPr marL="909637" lvl="3" indent="-342900">
              <a:buFont typeface="Wingdings" pitchFamily="2" charset="2"/>
              <a:buChar char="§"/>
            </a:pPr>
            <a:r>
              <a:rPr lang="es-UY" dirty="0" smtClean="0"/>
              <a:t>C es una condición booleana</a:t>
            </a:r>
          </a:p>
          <a:p>
            <a:pPr marL="1549717" lvl="5" indent="-342900">
              <a:buFont typeface="Wingdings" pitchFamily="2" charset="2"/>
              <a:buChar char="§"/>
            </a:pPr>
            <a:endParaRPr lang="es-UY" dirty="0" smtClean="0"/>
          </a:p>
          <a:p>
            <a:pPr marL="1549717" lvl="5" indent="-342900">
              <a:buFont typeface="Wingdings" pitchFamily="2" charset="2"/>
              <a:buChar char="§"/>
            </a:pPr>
            <a:endParaRPr lang="es-UY" dirty="0"/>
          </a:p>
          <a:p>
            <a:pPr marL="342900" lvl="1" indent="-342900"/>
            <a:endParaRPr lang="es-UY" dirty="0"/>
          </a:p>
          <a:p>
            <a:pPr marL="0" indent="0">
              <a:buNone/>
            </a:pPr>
            <a:endParaRPr lang="es-UY" dirty="0" smtClean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610522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Cláusula ORDER BY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342900" lvl="1" indent="-342900"/>
            <a:r>
              <a:rPr lang="es-UY" dirty="0" smtClean="0"/>
              <a:t>La </a:t>
            </a:r>
            <a:r>
              <a:rPr lang="es-UY" dirty="0"/>
              <a:t>cláusula </a:t>
            </a:r>
            <a:r>
              <a:rPr lang="es-UY" b="1" dirty="0"/>
              <a:t>ORDER BY</a:t>
            </a:r>
            <a:r>
              <a:rPr lang="es-UY" dirty="0"/>
              <a:t> </a:t>
            </a:r>
            <a:r>
              <a:rPr lang="es-UY" dirty="0" smtClean="0"/>
              <a:t>permite </a:t>
            </a:r>
            <a:r>
              <a:rPr lang="es-UY" b="1" dirty="0"/>
              <a:t>ordenar el resultado </a:t>
            </a:r>
            <a:r>
              <a:rPr lang="es-UY" dirty="0"/>
              <a:t>ascendentemente o descendentemente (ASC ó DESC</a:t>
            </a:r>
            <a:r>
              <a:rPr lang="es-UY" dirty="0" smtClean="0"/>
              <a:t>)</a:t>
            </a:r>
          </a:p>
          <a:p>
            <a:pPr marL="342900" lvl="1" indent="-342900"/>
            <a:endParaRPr lang="es-UY" dirty="0"/>
          </a:p>
          <a:p>
            <a:pPr marL="342900" lvl="1" indent="-342900"/>
            <a:r>
              <a:rPr lang="es-UY" b="1" dirty="0" smtClean="0"/>
              <a:t>Ejemplo</a:t>
            </a:r>
            <a:r>
              <a:rPr lang="es-UY" dirty="0"/>
              <a:t>: </a:t>
            </a:r>
            <a:r>
              <a:rPr lang="es-UY" dirty="0" smtClean="0"/>
              <a:t>Devolver los códigos de los hospitales ordenados ascendentemente</a:t>
            </a:r>
          </a:p>
          <a:p>
            <a:pPr marL="0" lvl="1" indent="0">
              <a:buNone/>
            </a:pPr>
            <a:endParaRPr lang="es-UY" dirty="0" smtClean="0"/>
          </a:p>
          <a:p>
            <a:pPr marL="0" lvl="1" indent="0">
              <a:buNone/>
            </a:pPr>
            <a:r>
              <a:rPr lang="es-UY" b="1" dirty="0" smtClean="0"/>
              <a:t>     </a:t>
            </a:r>
            <a:r>
              <a:rPr lang="es-UY" b="1" dirty="0" smtClean="0"/>
              <a:t>SELECT</a:t>
            </a:r>
            <a:r>
              <a:rPr lang="es-UY" dirty="0" smtClean="0"/>
              <a:t> </a:t>
            </a:r>
            <a:r>
              <a:rPr lang="es-UY" dirty="0" smtClean="0"/>
              <a:t>codHosp</a:t>
            </a:r>
          </a:p>
          <a:p>
            <a:pPr marL="0" lvl="1" indent="0">
              <a:buNone/>
            </a:pPr>
            <a:r>
              <a:rPr lang="es-UY" b="1" dirty="0"/>
              <a:t> </a:t>
            </a:r>
            <a:r>
              <a:rPr lang="es-UY" b="1" dirty="0" smtClean="0"/>
              <a:t>    </a:t>
            </a:r>
            <a:r>
              <a:rPr lang="es-UY" b="1" dirty="0" smtClean="0"/>
              <a:t>FROM</a:t>
            </a:r>
            <a:r>
              <a:rPr lang="es-UY" dirty="0" smtClean="0"/>
              <a:t> </a:t>
            </a:r>
            <a:r>
              <a:rPr lang="es-UY" dirty="0"/>
              <a:t>hospitales  </a:t>
            </a:r>
            <a:r>
              <a:rPr lang="es-UY" dirty="0" smtClean="0"/>
              <a:t> </a:t>
            </a:r>
          </a:p>
          <a:p>
            <a:pPr marL="0" lvl="1" indent="0">
              <a:buNone/>
            </a:pPr>
            <a:r>
              <a:rPr lang="es-UY" b="1" dirty="0"/>
              <a:t> </a:t>
            </a:r>
            <a:r>
              <a:rPr lang="es-UY" b="1" dirty="0" smtClean="0"/>
              <a:t>   </a:t>
            </a:r>
            <a:r>
              <a:rPr lang="es-UY" b="1" dirty="0" smtClean="0"/>
              <a:t> </a:t>
            </a:r>
            <a:r>
              <a:rPr lang="es-UY" b="1" dirty="0" smtClean="0"/>
              <a:t>ORDER </a:t>
            </a:r>
            <a:r>
              <a:rPr lang="es-UY" b="1" dirty="0"/>
              <a:t>BY </a:t>
            </a:r>
            <a:r>
              <a:rPr lang="es-UY" dirty="0"/>
              <a:t>codHosp </a:t>
            </a:r>
            <a:r>
              <a:rPr lang="es-UY" b="1" dirty="0"/>
              <a:t>ASC</a:t>
            </a:r>
            <a:r>
              <a:rPr lang="es-UY" dirty="0"/>
              <a:t>;</a:t>
            </a:r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782321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Cláusula DISTINCT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274320" lvl="1"/>
            <a:r>
              <a:rPr lang="es-UY" dirty="0"/>
              <a:t>La cláusula </a:t>
            </a:r>
            <a:r>
              <a:rPr lang="es-UY" b="1" dirty="0" smtClean="0"/>
              <a:t>DISTINCT</a:t>
            </a:r>
            <a:r>
              <a:rPr lang="es-U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UY" dirty="0" smtClean="0"/>
              <a:t>permite </a:t>
            </a:r>
            <a:r>
              <a:rPr lang="es-UY" b="1" dirty="0" smtClean="0"/>
              <a:t>filtrar tuplas repetidas</a:t>
            </a:r>
            <a:endParaRPr lang="es-UY" dirty="0" smtClean="0"/>
          </a:p>
          <a:p>
            <a:pPr marL="274320" lvl="1"/>
            <a:endParaRPr lang="es-UY" dirty="0"/>
          </a:p>
          <a:p>
            <a:pPr marL="274320" lvl="1"/>
            <a:r>
              <a:rPr lang="es-UY" b="1" dirty="0" smtClean="0"/>
              <a:t>Ejemplo</a:t>
            </a:r>
            <a:r>
              <a:rPr lang="es-UY" dirty="0" smtClean="0"/>
              <a:t>: Devolver las especialidades, sin repetir, de los médicos</a:t>
            </a:r>
          </a:p>
          <a:p>
            <a:pPr marL="0" lvl="1" indent="0">
              <a:buNone/>
            </a:pPr>
            <a:endParaRPr lang="es-UY" dirty="0" smtClean="0"/>
          </a:p>
          <a:p>
            <a:pPr marL="0" lvl="1" indent="0">
              <a:buNone/>
            </a:pPr>
            <a:r>
              <a:rPr lang="es-UY" b="1" dirty="0" smtClean="0"/>
              <a:t>    </a:t>
            </a:r>
            <a:r>
              <a:rPr lang="es-UY" b="1" dirty="0" smtClean="0"/>
              <a:t>SELECT</a:t>
            </a:r>
            <a:r>
              <a:rPr lang="es-UY" dirty="0" smtClean="0"/>
              <a:t> </a:t>
            </a:r>
            <a:r>
              <a:rPr lang="es-UY" b="1" dirty="0" smtClean="0"/>
              <a:t>DISTINCT</a:t>
            </a:r>
            <a:r>
              <a:rPr lang="es-UY" dirty="0" smtClean="0"/>
              <a:t> especialidad</a:t>
            </a:r>
            <a:endParaRPr lang="es-UY" dirty="0"/>
          </a:p>
          <a:p>
            <a:pPr marL="0" lvl="1" indent="0">
              <a:buNone/>
            </a:pPr>
            <a:r>
              <a:rPr lang="es-UY" b="1" dirty="0"/>
              <a:t>    </a:t>
            </a:r>
            <a:r>
              <a:rPr lang="es-UY" b="1" dirty="0" smtClean="0"/>
              <a:t>FROM</a:t>
            </a:r>
            <a:r>
              <a:rPr lang="es-UY" dirty="0" smtClean="0"/>
              <a:t> </a:t>
            </a:r>
            <a:r>
              <a:rPr lang="es-UY" dirty="0" smtClean="0"/>
              <a:t>medicos;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87199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Operador JOIN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b="1" dirty="0" smtClean="0"/>
              <a:t>JOIN</a:t>
            </a:r>
            <a:r>
              <a:rPr lang="es-UY" dirty="0" smtClean="0"/>
              <a:t> es un operador que se utiliza para combinar datos de dos o más tablas basados en una relación entre determinadas columnas en estas tablas</a:t>
            </a:r>
          </a:p>
          <a:p>
            <a:endParaRPr lang="es-UY" dirty="0"/>
          </a:p>
          <a:p>
            <a:r>
              <a:rPr lang="es-UY" dirty="0" smtClean="0"/>
              <a:t>En el JOIN sólo se incluyen en el resultado tuplas que coincidan en valor en los campos del JOIN</a:t>
            </a:r>
          </a:p>
          <a:p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376781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Ejemplo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UY" sz="2000" dirty="0"/>
              <a:t> </a:t>
            </a:r>
            <a:r>
              <a:rPr lang="es-UY" sz="2000" dirty="0" smtClean="0"/>
              <a:t>  </a:t>
            </a:r>
            <a:r>
              <a:rPr lang="es-UY" sz="2000" b="1" dirty="0" smtClean="0"/>
              <a:t>PERSONAS</a:t>
            </a:r>
            <a:r>
              <a:rPr lang="es-UY" sz="2000" dirty="0" smtClean="0"/>
              <a:t>(</a:t>
            </a:r>
            <a:r>
              <a:rPr lang="es-UY" sz="2000" u="sng" dirty="0" smtClean="0"/>
              <a:t>ci</a:t>
            </a:r>
            <a:r>
              <a:rPr lang="es-UY" sz="2000" dirty="0" smtClean="0"/>
              <a:t>, nombre, apellido, fchNac, </a:t>
            </a:r>
            <a:r>
              <a:rPr lang="es-UY" sz="2000" dirty="0" smtClean="0"/>
              <a:t>lugarNac</a:t>
            </a:r>
            <a:r>
              <a:rPr lang="es-UY" sz="2000" dirty="0" smtClean="0"/>
              <a:t>)</a:t>
            </a:r>
          </a:p>
          <a:p>
            <a:pPr marL="0" indent="0">
              <a:buNone/>
            </a:pPr>
            <a:r>
              <a:rPr lang="es-UY" sz="2000" dirty="0" smtClean="0"/>
              <a:t>   </a:t>
            </a:r>
            <a:r>
              <a:rPr lang="es-UY" sz="2000" b="1" dirty="0" smtClean="0"/>
              <a:t>TECNOLOGOS</a:t>
            </a:r>
            <a:r>
              <a:rPr lang="es-UY" sz="2000" dirty="0" smtClean="0"/>
              <a:t>(</a:t>
            </a:r>
            <a:r>
              <a:rPr lang="es-UY" sz="2000" u="sng" dirty="0" smtClean="0"/>
              <a:t>ci</a:t>
            </a:r>
            <a:r>
              <a:rPr lang="es-UY" sz="2000" dirty="0" smtClean="0"/>
              <a:t>, fchTitulo)</a:t>
            </a:r>
          </a:p>
          <a:p>
            <a:endParaRPr lang="es-UY" dirty="0"/>
          </a:p>
          <a:p>
            <a:r>
              <a:rPr lang="es-UY" dirty="0" smtClean="0"/>
              <a:t>Obtener los nombres y apellidos de los Tecnólogos:</a:t>
            </a:r>
            <a:endParaRPr lang="es-UY" dirty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/>
              <a:t>   </a:t>
            </a:r>
            <a:r>
              <a:rPr lang="es-UY" b="1" dirty="0" smtClean="0"/>
              <a:t>SELECT</a:t>
            </a:r>
            <a:r>
              <a:rPr lang="es-UY" dirty="0" smtClean="0"/>
              <a:t> </a:t>
            </a:r>
            <a:r>
              <a:rPr lang="es-UY" dirty="0" smtClean="0"/>
              <a:t>nombre, apellido</a:t>
            </a:r>
            <a:endParaRPr lang="es-UY" dirty="0"/>
          </a:p>
          <a:p>
            <a:pPr marL="0" indent="0">
              <a:buNone/>
            </a:pPr>
            <a:r>
              <a:rPr lang="es-UY" dirty="0"/>
              <a:t>   </a:t>
            </a:r>
            <a:r>
              <a:rPr lang="es-UY" b="1" dirty="0" smtClean="0"/>
              <a:t>FROM</a:t>
            </a:r>
            <a:r>
              <a:rPr lang="es-UY" dirty="0" smtClean="0"/>
              <a:t> </a:t>
            </a:r>
            <a:r>
              <a:rPr lang="es-UY" dirty="0" smtClean="0"/>
              <a:t>(personas </a:t>
            </a:r>
            <a:r>
              <a:rPr lang="es-UY" b="1" dirty="0"/>
              <a:t>JOIN</a:t>
            </a:r>
            <a:r>
              <a:rPr lang="es-UY" dirty="0"/>
              <a:t> </a:t>
            </a:r>
            <a:r>
              <a:rPr lang="es-UY" dirty="0" smtClean="0"/>
              <a:t>tecnologos </a:t>
            </a:r>
            <a:r>
              <a:rPr lang="es-UY" b="1" dirty="0"/>
              <a:t>ON </a:t>
            </a:r>
            <a:endParaRPr lang="es-UY" b="1" dirty="0" smtClean="0"/>
          </a:p>
          <a:p>
            <a:pPr marL="0" indent="0">
              <a:buNone/>
            </a:pPr>
            <a:r>
              <a:rPr lang="es-UY" b="1" dirty="0" smtClean="0"/>
              <a:t>   </a:t>
            </a:r>
            <a:r>
              <a:rPr lang="es-UY" dirty="0" smtClean="0"/>
              <a:t>personas.ci </a:t>
            </a:r>
            <a:r>
              <a:rPr lang="es-UY" dirty="0" smtClean="0"/>
              <a:t>= tecnologos.ci);</a:t>
            </a:r>
            <a:endParaRPr lang="es-UY" b="1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573037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Otros tipos de JOIN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s-UY" b="1" dirty="0" smtClean="0"/>
              <a:t>NATURAL </a:t>
            </a:r>
            <a:r>
              <a:rPr lang="es-UY" b="1" dirty="0"/>
              <a:t>JOIN</a:t>
            </a:r>
            <a:r>
              <a:rPr lang="es-UY" dirty="0"/>
              <a:t>: Elimina columnas con nombres </a:t>
            </a:r>
            <a:r>
              <a:rPr lang="es-UY" dirty="0" smtClean="0"/>
              <a:t>repetidos</a:t>
            </a:r>
          </a:p>
          <a:p>
            <a:endParaRPr lang="es-UY" b="1" dirty="0"/>
          </a:p>
          <a:p>
            <a:r>
              <a:rPr lang="es-UY" b="1" dirty="0"/>
              <a:t>LEFT JOIN</a:t>
            </a:r>
            <a:r>
              <a:rPr lang="es-UY" dirty="0" smtClean="0"/>
              <a:t>: Agrega para cada tupla de T1 que no satisface la condición de JOIN con ninguna de T2, una fila con nulos en las columnas de T2</a:t>
            </a:r>
          </a:p>
          <a:p>
            <a:endParaRPr lang="es-UY" dirty="0"/>
          </a:p>
          <a:p>
            <a:r>
              <a:rPr lang="es-UY" b="1" dirty="0"/>
              <a:t>RIGHT </a:t>
            </a:r>
            <a:r>
              <a:rPr lang="es-UY" b="1" dirty="0" smtClean="0"/>
              <a:t>JOIN</a:t>
            </a:r>
            <a:r>
              <a:rPr lang="es-UY" dirty="0" smtClean="0"/>
              <a:t>: Análogo a LEFT JOIN pero se incluyen todos los de T2</a:t>
            </a:r>
          </a:p>
          <a:p>
            <a:pPr marL="0" indent="0">
              <a:buNone/>
            </a:pPr>
            <a:endParaRPr lang="es-UY" b="1" dirty="0"/>
          </a:p>
          <a:p>
            <a:r>
              <a:rPr lang="es-UY" b="1" dirty="0"/>
              <a:t>FULL </a:t>
            </a:r>
            <a:r>
              <a:rPr lang="es-UY" b="1" dirty="0" smtClean="0"/>
              <a:t>JOIN</a:t>
            </a:r>
            <a:r>
              <a:rPr lang="es-UY" dirty="0" smtClean="0"/>
              <a:t>: Equivalente a la unión de LEFT JOIN y RIGHT JOIN</a:t>
            </a:r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60121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Alias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b="1" dirty="0" smtClean="0"/>
              <a:t>Ejemplo</a:t>
            </a:r>
            <a:r>
              <a:rPr lang="es-UY" dirty="0" smtClean="0"/>
              <a:t>: Devolver las parejas de cédulas de identidad de las personas que tienen igual nombre pero distinto apellido</a:t>
            </a:r>
          </a:p>
          <a:p>
            <a:pPr marL="301943" lvl="1" indent="0">
              <a:buNone/>
            </a:pPr>
            <a:endParaRPr lang="es-UY" dirty="0" smtClean="0"/>
          </a:p>
          <a:p>
            <a:pPr marL="301943" lvl="1" indent="0">
              <a:buNone/>
            </a:pPr>
            <a:r>
              <a:rPr lang="es-UY" b="1" dirty="0" smtClean="0"/>
              <a:t>SELECT</a:t>
            </a:r>
            <a:r>
              <a:rPr lang="es-UY" dirty="0" smtClean="0"/>
              <a:t> </a:t>
            </a:r>
            <a:r>
              <a:rPr lang="es-UY" dirty="0" smtClean="0"/>
              <a:t>p1.ci, p2.ci</a:t>
            </a:r>
          </a:p>
          <a:p>
            <a:pPr marL="301943" lvl="1" indent="0">
              <a:buNone/>
            </a:pPr>
            <a:r>
              <a:rPr lang="es-UY" b="1" dirty="0" smtClean="0"/>
              <a:t>FROM</a:t>
            </a:r>
            <a:r>
              <a:rPr lang="es-UY" dirty="0" smtClean="0"/>
              <a:t> </a:t>
            </a:r>
            <a:r>
              <a:rPr lang="es-UY" dirty="0" smtClean="0"/>
              <a:t>personas </a:t>
            </a:r>
            <a:r>
              <a:rPr lang="es-UY" b="1" dirty="0" smtClean="0"/>
              <a:t>p1</a:t>
            </a:r>
            <a:r>
              <a:rPr lang="es-UY" dirty="0" smtClean="0"/>
              <a:t>, personas </a:t>
            </a:r>
            <a:r>
              <a:rPr lang="es-UY" b="1" dirty="0" smtClean="0"/>
              <a:t>p2</a:t>
            </a:r>
          </a:p>
          <a:p>
            <a:pPr marL="301943" lvl="1" indent="0">
              <a:buNone/>
            </a:pPr>
            <a:r>
              <a:rPr lang="es-UY" b="1" dirty="0" smtClean="0"/>
              <a:t>WHERE</a:t>
            </a:r>
            <a:r>
              <a:rPr lang="es-UY" dirty="0" smtClean="0"/>
              <a:t> </a:t>
            </a:r>
            <a:r>
              <a:rPr lang="es-UY" dirty="0" smtClean="0"/>
              <a:t>p1.nombre = p2.nombre </a:t>
            </a:r>
            <a:r>
              <a:rPr lang="es-UY" dirty="0" smtClean="0"/>
              <a:t>and </a:t>
            </a:r>
            <a:r>
              <a:rPr lang="es-UY" dirty="0" smtClean="0"/>
              <a:t>p1.apellido &lt;&gt; p2.apellido;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952381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Renombrar atributos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UY" b="1" dirty="0" smtClean="0"/>
              <a:t>Ejemplo</a:t>
            </a:r>
            <a:r>
              <a:rPr lang="es-UY" dirty="0" smtClean="0"/>
              <a:t>: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</a:t>
            </a:r>
          </a:p>
          <a:p>
            <a:pPr marL="0" indent="0">
              <a:buNone/>
            </a:pPr>
            <a:r>
              <a:rPr lang="es-UY" b="1" dirty="0"/>
              <a:t> </a:t>
            </a:r>
            <a:r>
              <a:rPr lang="es-UY" b="1" dirty="0" smtClean="0"/>
              <a:t>  PRODUCTOS</a:t>
            </a:r>
            <a:r>
              <a:rPr lang="es-UY" dirty="0" smtClean="0"/>
              <a:t> </a:t>
            </a:r>
            <a:r>
              <a:rPr lang="es-UY" dirty="0"/>
              <a:t>(</a:t>
            </a:r>
            <a:r>
              <a:rPr lang="es-UY" u="sng" dirty="0"/>
              <a:t>nroProd</a:t>
            </a:r>
            <a:r>
              <a:rPr lang="es-UY" dirty="0"/>
              <a:t>, nombre, peso) </a:t>
            </a:r>
          </a:p>
          <a:p>
            <a:pPr marL="0" indent="0">
              <a:buNone/>
            </a:pPr>
            <a:r>
              <a:rPr lang="es-UY" dirty="0"/>
              <a:t>   </a:t>
            </a:r>
            <a:r>
              <a:rPr lang="es-UY" b="1" dirty="0" smtClean="0"/>
              <a:t>FABRICANTES</a:t>
            </a:r>
            <a:r>
              <a:rPr lang="es-UY" dirty="0" smtClean="0"/>
              <a:t> </a:t>
            </a:r>
            <a:r>
              <a:rPr lang="es-UY" dirty="0"/>
              <a:t>( </a:t>
            </a:r>
            <a:r>
              <a:rPr lang="es-UY" u="sng" dirty="0"/>
              <a:t>nroFab</a:t>
            </a:r>
            <a:r>
              <a:rPr lang="es-UY" dirty="0"/>
              <a:t>, nombre, departamento)</a:t>
            </a:r>
          </a:p>
          <a:p>
            <a:pPr marL="0" indent="0">
              <a:buNone/>
            </a:pPr>
            <a:r>
              <a:rPr lang="es-UY" dirty="0"/>
              <a:t>   </a:t>
            </a:r>
            <a:r>
              <a:rPr lang="es-UY" b="1" dirty="0" smtClean="0"/>
              <a:t>VENTAS</a:t>
            </a:r>
            <a:r>
              <a:rPr lang="es-UY" dirty="0" smtClean="0"/>
              <a:t> </a:t>
            </a:r>
            <a:r>
              <a:rPr lang="es-UY" dirty="0"/>
              <a:t>( </a:t>
            </a:r>
            <a:r>
              <a:rPr lang="es-UY" u="sng" dirty="0"/>
              <a:t>nroFab</a:t>
            </a:r>
            <a:r>
              <a:rPr lang="es-UY" dirty="0"/>
              <a:t>, </a:t>
            </a:r>
            <a:r>
              <a:rPr lang="es-UY" u="sng" dirty="0"/>
              <a:t>nroProd</a:t>
            </a:r>
            <a:r>
              <a:rPr lang="es-UY" dirty="0"/>
              <a:t>, precio)</a:t>
            </a:r>
          </a:p>
          <a:p>
            <a:endParaRPr lang="es-UY" dirty="0"/>
          </a:p>
          <a:p>
            <a:pPr marL="0" indent="0">
              <a:buNone/>
            </a:pPr>
            <a:r>
              <a:rPr lang="es-UY" dirty="0" smtClean="0"/>
              <a:t>   Dar </a:t>
            </a:r>
            <a:r>
              <a:rPr lang="es-UY" dirty="0"/>
              <a:t>los nombres de fabricantes y </a:t>
            </a:r>
            <a:r>
              <a:rPr lang="es-UY" dirty="0" smtClean="0"/>
              <a:t>los nombres </a:t>
            </a:r>
            <a:r>
              <a:rPr lang="es-UY" dirty="0"/>
              <a:t>de los </a:t>
            </a:r>
            <a:endParaRPr lang="es-UY" dirty="0" smtClean="0"/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productos </a:t>
            </a:r>
            <a:r>
              <a:rPr lang="es-UY" dirty="0"/>
              <a:t>que </a:t>
            </a:r>
            <a:r>
              <a:rPr lang="es-UY" dirty="0" smtClean="0"/>
              <a:t>venden</a:t>
            </a:r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smtClean="0"/>
              <a:t>   </a:t>
            </a:r>
            <a:r>
              <a:rPr lang="es-UY" b="1" dirty="0" smtClean="0"/>
              <a:t>SELECT</a:t>
            </a:r>
            <a:r>
              <a:rPr lang="es-UY" dirty="0" smtClean="0"/>
              <a:t> fabricantes.nombre </a:t>
            </a:r>
            <a:r>
              <a:rPr lang="es-UY" b="1" dirty="0"/>
              <a:t>as</a:t>
            </a:r>
            <a:r>
              <a:rPr lang="es-UY" dirty="0"/>
              <a:t> </a:t>
            </a:r>
            <a:r>
              <a:rPr lang="es-UY" dirty="0" smtClean="0"/>
              <a:t>nomFab,</a:t>
            </a:r>
            <a:endParaRPr lang="es-UY" dirty="0"/>
          </a:p>
          <a:p>
            <a:pPr marL="0" indent="0">
              <a:buNone/>
            </a:pPr>
            <a:r>
              <a:rPr lang="es-UY" dirty="0" smtClean="0"/>
              <a:t>   productos.nombre </a:t>
            </a:r>
            <a:r>
              <a:rPr lang="es-UY" b="1" dirty="0"/>
              <a:t>as</a:t>
            </a:r>
            <a:r>
              <a:rPr lang="es-UY" dirty="0"/>
              <a:t> </a:t>
            </a:r>
            <a:r>
              <a:rPr lang="es-UY" dirty="0" smtClean="0"/>
              <a:t>nomProd</a:t>
            </a:r>
            <a:endParaRPr lang="es-UY" dirty="0"/>
          </a:p>
          <a:p>
            <a:pPr marL="0" indent="0">
              <a:buNone/>
            </a:pPr>
            <a:r>
              <a:rPr lang="es-UY" dirty="0" smtClean="0"/>
              <a:t>   </a:t>
            </a:r>
            <a:r>
              <a:rPr lang="es-UY" b="1" dirty="0" smtClean="0"/>
              <a:t>FROM </a:t>
            </a:r>
            <a:r>
              <a:rPr lang="es-UY" dirty="0" smtClean="0"/>
              <a:t>ventas, fabricantes, productos</a:t>
            </a:r>
            <a:endParaRPr lang="es-UY" dirty="0"/>
          </a:p>
          <a:p>
            <a:pPr marL="0" indent="0">
              <a:buNone/>
            </a:pPr>
            <a:r>
              <a:rPr lang="es-UY" dirty="0" smtClean="0"/>
              <a:t>   </a:t>
            </a:r>
            <a:r>
              <a:rPr lang="es-UY" b="1" dirty="0" smtClean="0"/>
              <a:t>WHERE</a:t>
            </a:r>
            <a:r>
              <a:rPr lang="es-UY" dirty="0" smtClean="0"/>
              <a:t> ventas.nroFab </a:t>
            </a:r>
            <a:r>
              <a:rPr lang="es-UY" dirty="0"/>
              <a:t>= </a:t>
            </a:r>
            <a:r>
              <a:rPr lang="es-UY" dirty="0" smtClean="0"/>
              <a:t>fabricantes.nroFab</a:t>
            </a:r>
            <a:endParaRPr lang="es-UY" dirty="0"/>
          </a:p>
          <a:p>
            <a:pPr marL="0" indent="0">
              <a:buNone/>
            </a:pPr>
            <a:r>
              <a:rPr lang="es-UY" dirty="0" smtClean="0"/>
              <a:t>   and ventas.nroProd </a:t>
            </a:r>
            <a:r>
              <a:rPr lang="es-UY" dirty="0"/>
              <a:t>= </a:t>
            </a:r>
            <a:r>
              <a:rPr lang="es-UY" dirty="0" smtClean="0"/>
              <a:t>productos.nroProd;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13586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Unión (UNION)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UY" b="1" dirty="0" smtClean="0"/>
              <a:t>Ejemplo</a:t>
            </a:r>
            <a:r>
              <a:rPr lang="es-UY" dirty="0" smtClean="0"/>
              <a:t>: Devolver la cédula de identidad de las personas que nacieron en el año 2000 o que nacieron en Salto</a:t>
            </a:r>
          </a:p>
          <a:p>
            <a:endParaRPr lang="es-UY" dirty="0" smtClean="0"/>
          </a:p>
          <a:p>
            <a:pPr marL="0" indent="0">
              <a:buNone/>
            </a:pPr>
            <a:r>
              <a:rPr lang="es-UY" dirty="0" smtClean="0"/>
              <a:t>    </a:t>
            </a:r>
            <a:r>
              <a:rPr lang="es-UY" dirty="0" smtClean="0"/>
              <a:t>SELECT </a:t>
            </a:r>
            <a:r>
              <a:rPr lang="es-UY" dirty="0" smtClean="0"/>
              <a:t>ci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 </a:t>
            </a:r>
            <a:r>
              <a:rPr lang="es-UY" dirty="0" smtClean="0"/>
              <a:t>FROM </a:t>
            </a:r>
            <a:r>
              <a:rPr lang="es-UY" dirty="0" smtClean="0"/>
              <a:t>personas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 </a:t>
            </a:r>
            <a:r>
              <a:rPr lang="es-UY" dirty="0" smtClean="0"/>
              <a:t>WHERE 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 </a:t>
            </a:r>
            <a:r>
              <a:rPr lang="en-US" dirty="0" smtClean="0"/>
              <a:t>personas.fchNac </a:t>
            </a:r>
            <a:r>
              <a:rPr lang="en-US" dirty="0" smtClean="0"/>
              <a:t>&gt;= </a:t>
            </a:r>
            <a:r>
              <a:rPr lang="en-US" dirty="0" smtClean="0"/>
              <a:t>to_date</a:t>
            </a:r>
            <a:r>
              <a:rPr lang="en-US" dirty="0"/>
              <a:t>('01/01/2000','dd/mm/</a:t>
            </a:r>
            <a:r>
              <a:rPr lang="en-US" dirty="0" err="1"/>
              <a:t>yyyy</a:t>
            </a:r>
            <a:r>
              <a:rPr lang="en-US" dirty="0"/>
              <a:t>') and 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smtClean="0"/>
              <a:t>personas.fchNac </a:t>
            </a:r>
            <a:r>
              <a:rPr lang="en-US" dirty="0"/>
              <a:t>&lt;= to_date('31/12/2000','dd/mm/</a:t>
            </a:r>
            <a:r>
              <a:rPr lang="en-US" dirty="0" err="1"/>
              <a:t>yyyy</a:t>
            </a:r>
            <a:r>
              <a:rPr lang="en-US" dirty="0" smtClean="0"/>
              <a:t>')</a:t>
            </a:r>
            <a:endParaRPr lang="es-UY" dirty="0" smtClean="0"/>
          </a:p>
          <a:p>
            <a:pPr marL="0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smtClean="0"/>
              <a:t>    </a:t>
            </a:r>
            <a:r>
              <a:rPr lang="es-UY" b="1" dirty="0" smtClean="0"/>
              <a:t>UNION</a:t>
            </a:r>
            <a:endParaRPr lang="es-UY" b="1" dirty="0"/>
          </a:p>
          <a:p>
            <a:endParaRPr lang="es-UY" dirty="0" smtClean="0"/>
          </a:p>
          <a:p>
            <a:pPr marL="0" indent="0">
              <a:buNone/>
            </a:pPr>
            <a:r>
              <a:rPr lang="es-UY" dirty="0" smtClean="0"/>
              <a:t>    </a:t>
            </a:r>
            <a:r>
              <a:rPr lang="es-UY" dirty="0" smtClean="0"/>
              <a:t>SELECT </a:t>
            </a:r>
            <a:r>
              <a:rPr lang="es-UY" dirty="0" smtClean="0"/>
              <a:t>ci</a:t>
            </a:r>
            <a:endParaRPr lang="es-UY" dirty="0"/>
          </a:p>
          <a:p>
            <a:pPr marL="0" indent="0">
              <a:buNone/>
            </a:pPr>
            <a:r>
              <a:rPr lang="es-UY" dirty="0"/>
              <a:t>    </a:t>
            </a:r>
            <a:r>
              <a:rPr lang="es-UY" dirty="0" smtClean="0"/>
              <a:t>FROM </a:t>
            </a:r>
            <a:r>
              <a:rPr lang="es-UY" dirty="0"/>
              <a:t>personas </a:t>
            </a:r>
          </a:p>
          <a:p>
            <a:pPr marL="0" indent="0">
              <a:buNone/>
            </a:pPr>
            <a:r>
              <a:rPr lang="es-UY" dirty="0"/>
              <a:t>    </a:t>
            </a:r>
            <a:r>
              <a:rPr lang="es-UY" dirty="0" smtClean="0"/>
              <a:t>WHERE </a:t>
            </a:r>
            <a:r>
              <a:rPr lang="es-UY" dirty="0" smtClean="0"/>
              <a:t>personas.lugarNac = ‘Salto’;</a:t>
            </a:r>
          </a:p>
          <a:p>
            <a:endParaRPr lang="es-UY" dirty="0" smtClean="0"/>
          </a:p>
          <a:p>
            <a:r>
              <a:rPr lang="es-UY" dirty="0" smtClean="0"/>
              <a:t>La </a:t>
            </a:r>
            <a:r>
              <a:rPr lang="es-UY" b="1" dirty="0" smtClean="0"/>
              <a:t>UNION</a:t>
            </a:r>
            <a:r>
              <a:rPr lang="es-UY" dirty="0" smtClean="0"/>
              <a:t> elimina tuplas repetidas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334592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Diferencia (NOT IN)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b="1" dirty="0" smtClean="0"/>
              <a:t>Ejemplo</a:t>
            </a:r>
            <a:r>
              <a:rPr lang="es-UY" dirty="0" smtClean="0"/>
              <a:t>: Devolver las cédulas de identidad de las personas que no se recibieron de Tecnólogo</a:t>
            </a:r>
          </a:p>
          <a:p>
            <a:endParaRPr lang="es-UY" dirty="0"/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</a:t>
            </a:r>
            <a:r>
              <a:rPr lang="es-UY" dirty="0" smtClean="0"/>
              <a:t>SELECT </a:t>
            </a:r>
            <a:r>
              <a:rPr lang="es-UY" dirty="0" smtClean="0"/>
              <a:t>ci</a:t>
            </a:r>
          </a:p>
          <a:p>
            <a:pPr marL="0" indent="0">
              <a:buNone/>
            </a:pPr>
            <a:r>
              <a:rPr lang="es-UY" dirty="0" smtClean="0"/>
              <a:t>   </a:t>
            </a:r>
            <a:r>
              <a:rPr lang="es-UY" dirty="0" smtClean="0"/>
              <a:t>FROM </a:t>
            </a:r>
            <a:r>
              <a:rPr lang="es-UY" dirty="0" smtClean="0"/>
              <a:t>personas</a:t>
            </a:r>
          </a:p>
          <a:p>
            <a:pPr marL="0" indent="0">
              <a:buNone/>
            </a:pPr>
            <a:r>
              <a:rPr lang="es-UY" dirty="0" smtClean="0"/>
              <a:t>   </a:t>
            </a:r>
            <a:r>
              <a:rPr lang="es-UY" dirty="0" smtClean="0"/>
              <a:t>WHERE </a:t>
            </a:r>
            <a:r>
              <a:rPr lang="es-UY" dirty="0" smtClean="0"/>
              <a:t>ci </a:t>
            </a:r>
            <a:r>
              <a:rPr lang="es-UY" b="1" dirty="0" smtClean="0"/>
              <a:t>NOT IN</a:t>
            </a:r>
            <a:r>
              <a:rPr lang="es-UY" dirty="0" smtClean="0"/>
              <a:t> (SELECT ci </a:t>
            </a:r>
            <a:r>
              <a:rPr lang="es-UY" dirty="0" smtClean="0"/>
              <a:t>FROM   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</a:t>
            </a:r>
            <a:r>
              <a:rPr lang="es-UY" dirty="0" smtClean="0"/>
              <a:t>tecnologos</a:t>
            </a:r>
            <a:r>
              <a:rPr lang="es-UY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723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Funciones y operadores aritméticos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En las cláusulas SELECT y WHERE se pueden aplicar funciones y operadores aritméticos sobre atributos:</a:t>
            </a:r>
          </a:p>
          <a:p>
            <a:pPr marL="0" indent="0">
              <a:buNone/>
            </a:pPr>
            <a:endParaRPr lang="es-UY" dirty="0" smtClean="0"/>
          </a:p>
          <a:p>
            <a:pPr lvl="1"/>
            <a:r>
              <a:rPr lang="es-UY" b="1" dirty="0"/>
              <a:t>Funciones</a:t>
            </a:r>
            <a:r>
              <a:rPr lang="es-UY" dirty="0"/>
              <a:t>: round (n), abs (n</a:t>
            </a:r>
            <a:r>
              <a:rPr lang="es-UY" dirty="0" smtClean="0"/>
              <a:t>), etc</a:t>
            </a:r>
          </a:p>
          <a:p>
            <a:pPr lvl="1"/>
            <a:r>
              <a:rPr lang="es-UY" b="1" dirty="0" smtClean="0"/>
              <a:t>Operadores aritméticos</a:t>
            </a:r>
            <a:r>
              <a:rPr lang="es-UY" dirty="0" smtClean="0"/>
              <a:t>: (+, *, /)</a:t>
            </a:r>
          </a:p>
        </p:txBody>
      </p:sp>
    </p:spTree>
    <p:extLst>
      <p:ext uri="{BB962C8B-B14F-4D97-AF65-F5344CB8AC3E}">
        <p14:creationId xmlns:p14="http://schemas.microsoft.com/office/powerpoint/2010/main" val="348073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Funciones de agregación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Las funciones de agregación extienden el álgebra relacional</a:t>
            </a:r>
          </a:p>
          <a:p>
            <a:endParaRPr lang="es-UY" dirty="0" smtClean="0"/>
          </a:p>
          <a:p>
            <a:r>
              <a:rPr lang="es-UY" dirty="0" smtClean="0"/>
              <a:t>Se aplican sobre conjuntos de tuplas, no sobre tuplas individuales</a:t>
            </a:r>
          </a:p>
          <a:p>
            <a:endParaRPr lang="es-UY" dirty="0" smtClean="0"/>
          </a:p>
          <a:p>
            <a:r>
              <a:rPr lang="es-UY" dirty="0" smtClean="0"/>
              <a:t>Permiten sumar, </a:t>
            </a:r>
            <a:r>
              <a:rPr lang="es-UY" dirty="0"/>
              <a:t>obtener el </a:t>
            </a:r>
            <a:r>
              <a:rPr lang="es-UY" dirty="0" smtClean="0"/>
              <a:t>máximo, contar tuplas, etc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346559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Consultas anidadas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UY" dirty="0" smtClean="0"/>
              <a:t>Las consultas anidadas son consultas dentro de la cláusula WHERE de otra </a:t>
            </a:r>
            <a:r>
              <a:rPr lang="es-UY" dirty="0" smtClean="0"/>
              <a:t>consulta</a:t>
            </a:r>
            <a:endParaRPr lang="es-UY" dirty="0" smtClean="0"/>
          </a:p>
          <a:p>
            <a:endParaRPr lang="es-UY" dirty="0"/>
          </a:p>
          <a:p>
            <a:r>
              <a:rPr lang="es-UY" b="1" dirty="0" smtClean="0"/>
              <a:t>Sintaxis</a:t>
            </a:r>
            <a:r>
              <a:rPr lang="es-UY" dirty="0" smtClean="0"/>
              <a:t>: </a:t>
            </a:r>
            <a:endParaRPr lang="es-UY" dirty="0" smtClean="0"/>
          </a:p>
          <a:p>
            <a:endParaRPr lang="es-UY" dirty="0" smtClean="0"/>
          </a:p>
          <a:p>
            <a:pPr marL="301943" lvl="1" indent="0">
              <a:buNone/>
            </a:pPr>
            <a:r>
              <a:rPr lang="es-U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s-UY" b="1" dirty="0" smtClean="0"/>
              <a:t>SELECT</a:t>
            </a:r>
            <a:r>
              <a:rPr lang="es-UY" dirty="0" smtClean="0"/>
              <a:t> </a:t>
            </a:r>
            <a:r>
              <a:rPr lang="es-UY" dirty="0"/>
              <a:t>A1, …, An</a:t>
            </a:r>
          </a:p>
          <a:p>
            <a:pPr marL="0" indent="0">
              <a:buNone/>
            </a:pPr>
            <a:r>
              <a:rPr lang="es-UY" dirty="0"/>
              <a:t>	</a:t>
            </a:r>
            <a:r>
              <a:rPr lang="es-UY" b="1" dirty="0"/>
              <a:t>FROM</a:t>
            </a:r>
            <a:r>
              <a:rPr lang="es-UY" dirty="0"/>
              <a:t> R1, …, Rm</a:t>
            </a:r>
          </a:p>
          <a:p>
            <a:pPr marL="0" indent="0">
              <a:buNone/>
            </a:pPr>
            <a:r>
              <a:rPr lang="es-UY" dirty="0"/>
              <a:t>	</a:t>
            </a:r>
            <a:r>
              <a:rPr lang="es-UY" b="1" dirty="0"/>
              <a:t>WHERE </a:t>
            </a:r>
            <a:r>
              <a:rPr lang="es-UY" dirty="0" smtClean="0"/>
              <a:t>Aj, …, Ak &lt;op_comp&gt;</a:t>
            </a:r>
            <a:endParaRPr lang="es-UY" dirty="0"/>
          </a:p>
          <a:p>
            <a:pPr marL="301943" lvl="1" indent="0">
              <a:buNone/>
            </a:pPr>
            <a:r>
              <a:rPr lang="es-UY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s-UY" dirty="0" smtClean="0"/>
              <a:t>(</a:t>
            </a:r>
            <a:r>
              <a:rPr lang="es-UY" b="1" dirty="0" smtClean="0"/>
              <a:t>SELECT</a:t>
            </a:r>
            <a:r>
              <a:rPr lang="es-UY" dirty="0" smtClean="0"/>
              <a:t> B1</a:t>
            </a:r>
            <a:r>
              <a:rPr lang="es-UY" dirty="0"/>
              <a:t>, …, </a:t>
            </a:r>
            <a:r>
              <a:rPr lang="es-UY" dirty="0" smtClean="0"/>
              <a:t>Bk</a:t>
            </a:r>
            <a:endParaRPr lang="es-UY" dirty="0"/>
          </a:p>
          <a:p>
            <a:pPr marL="0" indent="0">
              <a:buNone/>
            </a:pPr>
            <a:r>
              <a:rPr lang="es-UY" dirty="0"/>
              <a:t>	</a:t>
            </a:r>
            <a:r>
              <a:rPr lang="es-UY" dirty="0" smtClean="0"/>
              <a:t>	 </a:t>
            </a:r>
            <a:r>
              <a:rPr lang="es-UY" b="1" dirty="0" smtClean="0"/>
              <a:t>FROM </a:t>
            </a:r>
            <a:r>
              <a:rPr lang="es-UY" dirty="0" smtClean="0"/>
              <a:t>S1</a:t>
            </a:r>
            <a:r>
              <a:rPr lang="es-UY" dirty="0"/>
              <a:t>, …, </a:t>
            </a:r>
            <a:r>
              <a:rPr lang="es-UY" dirty="0" smtClean="0"/>
              <a:t>Sm</a:t>
            </a:r>
            <a:endParaRPr lang="es-UY" dirty="0"/>
          </a:p>
          <a:p>
            <a:pPr marL="0" indent="0">
              <a:buNone/>
            </a:pPr>
            <a:r>
              <a:rPr lang="es-UY" dirty="0"/>
              <a:t>	</a:t>
            </a:r>
            <a:r>
              <a:rPr lang="es-UY" dirty="0" smtClean="0"/>
              <a:t>	 </a:t>
            </a:r>
            <a:r>
              <a:rPr lang="es-UY" b="1" dirty="0" smtClean="0"/>
              <a:t>WHERE</a:t>
            </a:r>
            <a:r>
              <a:rPr lang="es-UY" dirty="0" smtClean="0"/>
              <a:t> C);</a:t>
            </a:r>
          </a:p>
          <a:p>
            <a:pPr marL="0" indent="0">
              <a:buNone/>
            </a:pPr>
            <a:r>
              <a:rPr lang="es-UY" dirty="0" smtClean="0"/>
              <a:t>    </a:t>
            </a:r>
            <a:endParaRPr lang="es-UY" dirty="0" smtClean="0"/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 </a:t>
            </a:r>
            <a:r>
              <a:rPr lang="es-UY" dirty="0" smtClean="0"/>
              <a:t>donde </a:t>
            </a:r>
            <a:r>
              <a:rPr lang="es-UY" dirty="0" smtClean="0"/>
              <a:t>&lt;op-comp&gt; puede ser:</a:t>
            </a:r>
          </a:p>
          <a:p>
            <a:pPr marL="301943" lvl="1" indent="0">
              <a:buNone/>
            </a:pPr>
            <a:r>
              <a:rPr lang="es-UY" dirty="0"/>
              <a:t>	 </a:t>
            </a:r>
            <a:r>
              <a:rPr lang="es-UY" dirty="0" smtClean="0"/>
              <a:t>   IN</a:t>
            </a:r>
          </a:p>
          <a:p>
            <a:pPr marL="301943" lvl="1" indent="0">
              <a:buNone/>
            </a:pPr>
            <a:r>
              <a:rPr lang="es-UY" dirty="0"/>
              <a:t>	</a:t>
            </a:r>
            <a:r>
              <a:rPr lang="es-UY" dirty="0" smtClean="0"/>
              <a:t>= ANY</a:t>
            </a:r>
          </a:p>
          <a:p>
            <a:pPr marL="301943" lvl="1" indent="0">
              <a:buNone/>
            </a:pPr>
            <a:r>
              <a:rPr lang="es-UY" dirty="0"/>
              <a:t>	</a:t>
            </a:r>
            <a:r>
              <a:rPr lang="es-UY" dirty="0" smtClean="0"/>
              <a:t>&gt; ANY</a:t>
            </a:r>
          </a:p>
          <a:p>
            <a:pPr marL="301943" lvl="1" indent="0">
              <a:buNone/>
            </a:pPr>
            <a:r>
              <a:rPr lang="es-UY" dirty="0"/>
              <a:t>	</a:t>
            </a:r>
            <a:r>
              <a:rPr lang="es-UY" dirty="0" smtClean="0"/>
              <a:t>= ALL</a:t>
            </a:r>
          </a:p>
          <a:p>
            <a:pPr marL="301943" lvl="1" indent="0">
              <a:buNone/>
            </a:pPr>
            <a:r>
              <a:rPr lang="es-UY" dirty="0"/>
              <a:t>	</a:t>
            </a:r>
            <a:r>
              <a:rPr lang="es-UY" dirty="0" smtClean="0"/>
              <a:t>&gt; ALL</a:t>
            </a:r>
            <a:endParaRPr lang="es-UY" dirty="0"/>
          </a:p>
          <a:p>
            <a:pPr marL="0" indent="0">
              <a:buNone/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421218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Función EXISTS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es-UY" dirty="0" smtClean="0"/>
              <a:t>La función </a:t>
            </a:r>
            <a:r>
              <a:rPr lang="es-UY" b="1" dirty="0" smtClean="0"/>
              <a:t>EXISTS</a:t>
            </a:r>
            <a:r>
              <a:rPr lang="es-UY" dirty="0" smtClean="0"/>
              <a:t> sirve para chequear si el resultado de una consulta no es vacío</a:t>
            </a:r>
          </a:p>
          <a:p>
            <a:endParaRPr lang="es-UY" dirty="0"/>
          </a:p>
          <a:p>
            <a:r>
              <a:rPr lang="es-UY" b="1" dirty="0" smtClean="0"/>
              <a:t>Ejemplo</a:t>
            </a:r>
            <a:r>
              <a:rPr lang="es-UY" dirty="0" smtClean="0"/>
              <a:t>: </a:t>
            </a:r>
            <a:r>
              <a:rPr lang="es-UY" dirty="0" smtClean="0"/>
              <a:t>Dar </a:t>
            </a:r>
            <a:r>
              <a:rPr lang="es-UY" dirty="0"/>
              <a:t>los nombres de los fabricantes que sólo </a:t>
            </a:r>
            <a:r>
              <a:rPr lang="es-UY" dirty="0" smtClean="0"/>
              <a:t>venden el producto número 15.</a:t>
            </a:r>
            <a:endParaRPr lang="es-UY" dirty="0"/>
          </a:p>
          <a:p>
            <a:pPr marL="0" indent="0">
              <a:buNone/>
            </a:pPr>
            <a:endParaRPr lang="es-UY" dirty="0" smtClean="0"/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 SELECT </a:t>
            </a:r>
            <a:r>
              <a:rPr lang="es-UY" dirty="0"/>
              <a:t>nombre</a:t>
            </a:r>
          </a:p>
          <a:p>
            <a:pPr marL="0" indent="0">
              <a:buNone/>
            </a:pPr>
            <a:r>
              <a:rPr lang="es-UY" dirty="0" smtClean="0"/>
              <a:t>    FROM fabricantes f1, ventas v1</a:t>
            </a:r>
            <a:endParaRPr lang="es-UY" dirty="0"/>
          </a:p>
          <a:p>
            <a:pPr marL="0" indent="0">
              <a:buNone/>
            </a:pPr>
            <a:r>
              <a:rPr lang="en-US" dirty="0" smtClean="0"/>
              <a:t>    WHERE f1.nroFab </a:t>
            </a:r>
            <a:r>
              <a:rPr lang="en-US" dirty="0"/>
              <a:t>= </a:t>
            </a:r>
            <a:r>
              <a:rPr lang="en-US" dirty="0" smtClean="0"/>
              <a:t>v1.nroFab and</a:t>
            </a:r>
            <a:r>
              <a:rPr lang="en-US" dirty="0"/>
              <a:t> </a:t>
            </a:r>
            <a:r>
              <a:rPr lang="en-US" dirty="0" smtClean="0"/>
              <a:t>v1.nroProd </a:t>
            </a:r>
            <a:r>
              <a:rPr lang="en-US" dirty="0"/>
              <a:t>= </a:t>
            </a:r>
            <a:r>
              <a:rPr lang="en-US" dirty="0" smtClean="0"/>
              <a:t>15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AND </a:t>
            </a:r>
            <a:r>
              <a:rPr lang="en-US" b="1" dirty="0" smtClean="0"/>
              <a:t>NOT EXISTS </a:t>
            </a:r>
            <a:r>
              <a:rPr lang="es-UY" dirty="0" smtClean="0"/>
              <a:t>(SELECT * FROM ventas v2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                                    </a:t>
            </a:r>
            <a:r>
              <a:rPr lang="en-US" dirty="0" smtClean="0"/>
              <a:t>WHERE v2.nroFab = f1.nroFab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and </a:t>
            </a:r>
            <a:r>
              <a:rPr lang="es-UY" dirty="0" smtClean="0"/>
              <a:t>v2.nroProd &lt;&gt; 15);</a:t>
            </a:r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95885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Cláusula GROUP BY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La cláusula </a:t>
            </a:r>
            <a:r>
              <a:rPr lang="es-UY" b="1" dirty="0" smtClean="0"/>
              <a:t>GROUP BY </a:t>
            </a:r>
            <a:r>
              <a:rPr lang="es-UY" dirty="0" smtClean="0"/>
              <a:t>sirve para agrupar tuplas</a:t>
            </a:r>
          </a:p>
          <a:p>
            <a:endParaRPr lang="es-UY" dirty="0" smtClean="0"/>
          </a:p>
          <a:p>
            <a:r>
              <a:rPr lang="es-UY" dirty="0" smtClean="0"/>
              <a:t>El agrupamiento se realiza después de aplicar el WHERE, es decir, sobre las tuplas que cumplen la condición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En </a:t>
            </a:r>
            <a:r>
              <a:rPr lang="es-UY" dirty="0" smtClean="0"/>
              <a:t>el SELECT sólo puede haber atributos presentes en la cláusula GROUP BY, funciones de agregación sobre atributos y/o expresiones aritméticas</a:t>
            </a: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691712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Ejemplo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UY" b="1" dirty="0" smtClean="0"/>
              <a:t>ACTIVIDADES</a:t>
            </a:r>
            <a:r>
              <a:rPr lang="es-UY" dirty="0" smtClean="0"/>
              <a:t> </a:t>
            </a:r>
            <a:r>
              <a:rPr lang="es-UY" dirty="0"/>
              <a:t>(</a:t>
            </a:r>
            <a:r>
              <a:rPr lang="es-UY" u="sng" dirty="0"/>
              <a:t>ci-</a:t>
            </a:r>
            <a:r>
              <a:rPr lang="es-UY" u="sng" dirty="0" err="1"/>
              <a:t>est</a:t>
            </a:r>
            <a:r>
              <a:rPr lang="es-UY" dirty="0"/>
              <a:t>, </a:t>
            </a:r>
            <a:r>
              <a:rPr lang="es-UY" u="sng" dirty="0" err="1"/>
              <a:t>cod</a:t>
            </a:r>
            <a:r>
              <a:rPr lang="es-UY" u="sng" dirty="0"/>
              <a:t>-as</a:t>
            </a:r>
            <a:r>
              <a:rPr lang="es-UY" dirty="0"/>
              <a:t>, </a:t>
            </a:r>
            <a:r>
              <a:rPr lang="es-UY" u="sng" dirty="0" err="1"/>
              <a:t>cod</a:t>
            </a:r>
            <a:r>
              <a:rPr lang="es-UY" u="sng" dirty="0"/>
              <a:t>-car</a:t>
            </a:r>
            <a:r>
              <a:rPr lang="es-UY" dirty="0"/>
              <a:t>, </a:t>
            </a:r>
            <a:r>
              <a:rPr lang="es-UY" u="sng" dirty="0"/>
              <a:t>tipo-</a:t>
            </a:r>
            <a:r>
              <a:rPr lang="es-UY" u="sng" dirty="0" err="1"/>
              <a:t>act</a:t>
            </a:r>
            <a:r>
              <a:rPr lang="es-UY" dirty="0"/>
              <a:t>, </a:t>
            </a:r>
            <a:r>
              <a:rPr lang="es-UY" u="sng" dirty="0"/>
              <a:t>fecha</a:t>
            </a:r>
            <a:r>
              <a:rPr lang="es-UY" dirty="0"/>
              <a:t>, aprobo, nota)     </a:t>
            </a:r>
            <a:endParaRPr lang="es-UY" dirty="0" smtClean="0"/>
          </a:p>
          <a:p>
            <a:pPr marL="0" indent="0">
              <a:buNone/>
            </a:pPr>
            <a:r>
              <a:rPr lang="es-UY" dirty="0" smtClean="0"/>
              <a:t>                                                        </a:t>
            </a:r>
            <a:endParaRPr lang="es-UY" dirty="0"/>
          </a:p>
          <a:p>
            <a:r>
              <a:rPr lang="es-UY" sz="2600" dirty="0" smtClean="0"/>
              <a:t>En </a:t>
            </a:r>
            <a:r>
              <a:rPr lang="es-UY" sz="2600" dirty="0"/>
              <a:t>esta </a:t>
            </a:r>
            <a:r>
              <a:rPr lang="es-UY" sz="2600" dirty="0" smtClean="0"/>
              <a:t>relación:</a:t>
            </a:r>
          </a:p>
          <a:p>
            <a:pPr lvl="1"/>
            <a:r>
              <a:rPr lang="es-UY" sz="2300" dirty="0" smtClean="0"/>
              <a:t>Se </a:t>
            </a:r>
            <a:r>
              <a:rPr lang="es-UY" sz="2300" dirty="0"/>
              <a:t>guardan todas las actividades que realizan los estudiantes en la </a:t>
            </a:r>
            <a:r>
              <a:rPr lang="es-UY" sz="2300" dirty="0" smtClean="0"/>
              <a:t>facultad</a:t>
            </a:r>
          </a:p>
          <a:p>
            <a:pPr lvl="1"/>
            <a:r>
              <a:rPr lang="es-UY" sz="2300" dirty="0" smtClean="0"/>
              <a:t>Estas </a:t>
            </a:r>
            <a:r>
              <a:rPr lang="es-UY" sz="2300" dirty="0"/>
              <a:t>actividades pueden ser de distintos tipos (examen (‘E’) o realización de curso (‘RC</a:t>
            </a:r>
            <a:r>
              <a:rPr lang="es-UY" sz="2300" dirty="0" smtClean="0"/>
              <a:t>’))</a:t>
            </a:r>
          </a:p>
          <a:p>
            <a:pPr lvl="1"/>
            <a:r>
              <a:rPr lang="es-UY" sz="2300" dirty="0" smtClean="0"/>
              <a:t>El </a:t>
            </a:r>
            <a:r>
              <a:rPr lang="es-UY" sz="2300" dirty="0"/>
              <a:t>atributo aprobo tiene valor ‘S’ o ‘N’. Si este atributo tiene valor ‘S’ asumimos que la asignatura esta aprobada totalmente, no importa el tipo de actividad que </a:t>
            </a:r>
            <a:r>
              <a:rPr lang="es-UY" sz="2300" dirty="0" smtClean="0"/>
              <a:t>sea</a:t>
            </a:r>
          </a:p>
          <a:p>
            <a:pPr lvl="1"/>
            <a:r>
              <a:rPr lang="es-UY" sz="2300" dirty="0" smtClean="0"/>
              <a:t>El </a:t>
            </a:r>
            <a:r>
              <a:rPr lang="es-UY" sz="2300" dirty="0"/>
              <a:t>atributo </a:t>
            </a:r>
            <a:r>
              <a:rPr lang="es-UY" sz="2300" dirty="0" smtClean="0"/>
              <a:t>fecha corresponde </a:t>
            </a:r>
            <a:r>
              <a:rPr lang="es-UY" sz="2300" dirty="0"/>
              <a:t>a la fecha en la que se realizó la </a:t>
            </a:r>
            <a:r>
              <a:rPr lang="es-UY" sz="2300" dirty="0" smtClean="0"/>
              <a:t>actividad</a:t>
            </a:r>
            <a:endParaRPr lang="es-UY" sz="2300" dirty="0"/>
          </a:p>
          <a:p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421373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Ejemplo</a:t>
            </a:r>
            <a:endParaRPr lang="es-UY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UY" dirty="0" smtClean="0"/>
              <a:t>Dar </a:t>
            </a:r>
            <a:r>
              <a:rPr lang="es-UY" dirty="0"/>
              <a:t>una lista que contenga código de asignatura, código de carrera y cantidad de aprobados a partir del </a:t>
            </a:r>
            <a:r>
              <a:rPr lang="es-UY" dirty="0" smtClean="0"/>
              <a:t>01/12/2001</a:t>
            </a:r>
            <a:endParaRPr lang="es-ES" b="1" dirty="0" smtClean="0"/>
          </a:p>
          <a:p>
            <a:endParaRPr lang="es-ES" b="1" dirty="0"/>
          </a:p>
          <a:p>
            <a:pPr marL="0" indent="0">
              <a:buNone/>
            </a:pPr>
            <a:r>
              <a:rPr lang="es-ES" b="1" dirty="0" smtClean="0"/>
              <a:t>   SELECT</a:t>
            </a:r>
            <a:r>
              <a:rPr lang="es-ES" dirty="0" smtClean="0"/>
              <a:t> </a:t>
            </a:r>
            <a:r>
              <a:rPr lang="es-ES" dirty="0" err="1"/>
              <a:t>cod</a:t>
            </a:r>
            <a:r>
              <a:rPr lang="es-ES" dirty="0"/>
              <a:t>-as, </a:t>
            </a:r>
            <a:r>
              <a:rPr lang="es-ES" dirty="0" err="1"/>
              <a:t>cod</a:t>
            </a:r>
            <a:r>
              <a:rPr lang="es-ES" dirty="0"/>
              <a:t>-car, </a:t>
            </a:r>
            <a:r>
              <a:rPr lang="es-ES" b="1" dirty="0"/>
              <a:t>COUNT</a:t>
            </a:r>
            <a:r>
              <a:rPr lang="es-ES" dirty="0"/>
              <a:t>(*)</a:t>
            </a:r>
            <a:endParaRPr lang="es-UY" dirty="0"/>
          </a:p>
          <a:p>
            <a:pPr marL="0" indent="0">
              <a:buNone/>
            </a:pPr>
            <a:r>
              <a:rPr lang="es-ES" dirty="0" smtClean="0"/>
              <a:t>   </a:t>
            </a:r>
            <a:r>
              <a:rPr lang="es-ES" b="1" dirty="0"/>
              <a:t>FROM</a:t>
            </a:r>
            <a:r>
              <a:rPr lang="es-ES" dirty="0"/>
              <a:t> </a:t>
            </a:r>
            <a:r>
              <a:rPr lang="es-ES" dirty="0" smtClean="0"/>
              <a:t>actividades</a:t>
            </a:r>
            <a:endParaRPr lang="es-UY" dirty="0"/>
          </a:p>
          <a:p>
            <a:pPr marL="0" indent="0">
              <a:buNone/>
            </a:pPr>
            <a:r>
              <a:rPr lang="es-ES" dirty="0" smtClean="0"/>
              <a:t>   </a:t>
            </a:r>
            <a:r>
              <a:rPr lang="es-ES" b="1" dirty="0" smtClean="0"/>
              <a:t>WHERE</a:t>
            </a:r>
            <a:r>
              <a:rPr lang="es-ES" dirty="0"/>
              <a:t> </a:t>
            </a:r>
            <a:r>
              <a:rPr lang="es-ES" dirty="0" smtClean="0"/>
              <a:t> 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fecha </a:t>
            </a:r>
            <a:r>
              <a:rPr lang="es-ES" dirty="0"/>
              <a:t>&gt; </a:t>
            </a:r>
            <a:r>
              <a:rPr lang="es-ES" dirty="0" err="1" smtClean="0"/>
              <a:t>to_date</a:t>
            </a:r>
            <a:r>
              <a:rPr lang="es-ES" dirty="0" smtClean="0"/>
              <a:t>(‘01/12/2001’,’dd/mm/</a:t>
            </a:r>
            <a:r>
              <a:rPr lang="es-ES" dirty="0" err="1" smtClean="0"/>
              <a:t>yyyy</a:t>
            </a:r>
            <a:r>
              <a:rPr lang="es-ES" dirty="0" smtClean="0"/>
              <a:t>’) and   </a:t>
            </a:r>
          </a:p>
          <a:p>
            <a:pPr marL="0" indent="0">
              <a:buNone/>
            </a:pPr>
            <a:r>
              <a:rPr lang="es-ES" dirty="0"/>
              <a:t> </a:t>
            </a:r>
            <a:r>
              <a:rPr lang="es-ES" dirty="0" smtClean="0"/>
              <a:t>  </a:t>
            </a:r>
            <a:r>
              <a:rPr lang="es-ES" dirty="0" err="1" smtClean="0"/>
              <a:t>aprobo</a:t>
            </a:r>
            <a:r>
              <a:rPr lang="es-ES" dirty="0" smtClean="0"/>
              <a:t> </a:t>
            </a:r>
            <a:r>
              <a:rPr lang="es-ES" dirty="0"/>
              <a:t>= ‘S’</a:t>
            </a:r>
            <a:endParaRPr lang="es-UY" dirty="0"/>
          </a:p>
          <a:p>
            <a:pPr marL="0" indent="0">
              <a:buNone/>
            </a:pPr>
            <a:r>
              <a:rPr lang="es-ES" dirty="0" smtClean="0"/>
              <a:t>   </a:t>
            </a:r>
            <a:r>
              <a:rPr lang="es-ES" b="1" dirty="0" smtClean="0"/>
              <a:t>GROUP </a:t>
            </a:r>
            <a:r>
              <a:rPr lang="es-ES" b="1" dirty="0"/>
              <a:t>BY</a:t>
            </a:r>
            <a:r>
              <a:rPr lang="es-ES" dirty="0"/>
              <a:t> </a:t>
            </a:r>
            <a:r>
              <a:rPr lang="es-ES" dirty="0" err="1"/>
              <a:t>cod</a:t>
            </a:r>
            <a:r>
              <a:rPr lang="es-ES" dirty="0"/>
              <a:t>-as, </a:t>
            </a:r>
            <a:r>
              <a:rPr lang="es-ES" dirty="0" err="1" smtClean="0"/>
              <a:t>cod</a:t>
            </a:r>
            <a:r>
              <a:rPr lang="es-ES" dirty="0" smtClean="0"/>
              <a:t>-car;</a:t>
            </a:r>
            <a:endParaRPr lang="es-UY" dirty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5705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Cláusula HAVING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La cláusula </a:t>
            </a:r>
            <a:r>
              <a:rPr lang="es-UY" b="1" dirty="0" smtClean="0"/>
              <a:t>HAVING</a:t>
            </a:r>
            <a:r>
              <a:rPr lang="es-UY" dirty="0" smtClean="0"/>
              <a:t> sirve para especificar condiciones sobre grupos</a:t>
            </a:r>
          </a:p>
          <a:p>
            <a:endParaRPr lang="es-UY" dirty="0"/>
          </a:p>
          <a:p>
            <a:r>
              <a:rPr lang="es-UY" b="1" dirty="0" smtClean="0"/>
              <a:t>Ejemplo</a:t>
            </a:r>
            <a:r>
              <a:rPr lang="es-UY" dirty="0" smtClean="0"/>
              <a:t>: </a:t>
            </a:r>
            <a:r>
              <a:rPr lang="es-UY" dirty="0" smtClean="0"/>
              <a:t>Dar </a:t>
            </a:r>
            <a:r>
              <a:rPr lang="es-UY" dirty="0"/>
              <a:t>el número de fabricante y los </a:t>
            </a:r>
            <a:r>
              <a:rPr lang="es-UY" dirty="0" smtClean="0"/>
              <a:t>promedios de </a:t>
            </a:r>
            <a:r>
              <a:rPr lang="es-UY" dirty="0"/>
              <a:t>precios a </a:t>
            </a:r>
            <a:r>
              <a:rPr lang="es-UY" dirty="0" smtClean="0"/>
              <a:t>los cuales </a:t>
            </a:r>
            <a:r>
              <a:rPr lang="es-UY" dirty="0"/>
              <a:t>vendió, pero para </a:t>
            </a:r>
            <a:r>
              <a:rPr lang="es-UY" dirty="0" smtClean="0"/>
              <a:t>los fabricantes </a:t>
            </a:r>
            <a:r>
              <a:rPr lang="es-UY" dirty="0"/>
              <a:t>con más de 3 </a:t>
            </a:r>
            <a:r>
              <a:rPr lang="es-UY" dirty="0" smtClean="0"/>
              <a:t>ventas</a:t>
            </a:r>
            <a:endParaRPr lang="es-UY" dirty="0"/>
          </a:p>
          <a:p>
            <a:pPr marL="0" indent="0">
              <a:buNone/>
            </a:pPr>
            <a:r>
              <a:rPr lang="es-UY" dirty="0" smtClean="0"/>
              <a:t> </a:t>
            </a:r>
          </a:p>
          <a:p>
            <a:pPr marL="0" indent="0">
              <a:buNone/>
            </a:pPr>
            <a:r>
              <a:rPr lang="es-UY" dirty="0"/>
              <a:t> </a:t>
            </a:r>
            <a:r>
              <a:rPr lang="es-UY" dirty="0" smtClean="0"/>
              <a:t>  SELECT nroFab, </a:t>
            </a:r>
            <a:r>
              <a:rPr lang="es-UY" dirty="0"/>
              <a:t>avg(precio)</a:t>
            </a:r>
          </a:p>
          <a:p>
            <a:pPr marL="0" indent="0">
              <a:buNone/>
            </a:pPr>
            <a:r>
              <a:rPr lang="es-UY" dirty="0" smtClean="0"/>
              <a:t>   FROM </a:t>
            </a:r>
            <a:r>
              <a:rPr lang="es-UY" dirty="0"/>
              <a:t>VENTAS</a:t>
            </a:r>
          </a:p>
          <a:p>
            <a:pPr marL="0" indent="0">
              <a:buNone/>
            </a:pPr>
            <a:r>
              <a:rPr lang="es-UY" dirty="0" smtClean="0"/>
              <a:t>   GROUP </a:t>
            </a:r>
            <a:r>
              <a:rPr lang="es-UY" dirty="0"/>
              <a:t>BY </a:t>
            </a:r>
            <a:r>
              <a:rPr lang="es-UY" dirty="0" smtClean="0"/>
              <a:t>nroFab</a:t>
            </a:r>
            <a:endParaRPr lang="es-UY" dirty="0"/>
          </a:p>
          <a:p>
            <a:pPr marL="0" indent="0">
              <a:buNone/>
            </a:pPr>
            <a:r>
              <a:rPr lang="es-UY" b="1" dirty="0" smtClean="0"/>
              <a:t>   HAVING </a:t>
            </a:r>
            <a:r>
              <a:rPr lang="es-UY" dirty="0"/>
              <a:t>count(*) &gt; 3;</a:t>
            </a:r>
            <a:endParaRPr lang="es-UY" dirty="0" smtClean="0"/>
          </a:p>
          <a:p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213416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Sub-consultas en el FROM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Utilizar </a:t>
            </a:r>
            <a:r>
              <a:rPr lang="es-UY" b="1" dirty="0" smtClean="0"/>
              <a:t>sub-consultas</a:t>
            </a:r>
            <a:r>
              <a:rPr lang="es-UY" dirty="0" smtClean="0"/>
              <a:t> en el FROM es equivalente al uso de vistas</a:t>
            </a:r>
          </a:p>
          <a:p>
            <a:endParaRPr lang="es-UY" dirty="0"/>
          </a:p>
          <a:p>
            <a:r>
              <a:rPr lang="es-UY" b="1" dirty="0" smtClean="0"/>
              <a:t>Ejemplo</a:t>
            </a:r>
            <a:r>
              <a:rPr lang="es-UY" dirty="0" smtClean="0"/>
              <a:t>:</a:t>
            </a:r>
            <a:r>
              <a:rPr lang="es-UY" dirty="0"/>
              <a:t> </a:t>
            </a:r>
            <a:r>
              <a:rPr lang="es-UY" dirty="0" smtClean="0"/>
              <a:t>Dar </a:t>
            </a:r>
            <a:r>
              <a:rPr lang="es-UY" dirty="0"/>
              <a:t>el máximo del promedio de ventas de cada </a:t>
            </a:r>
            <a:r>
              <a:rPr lang="es-UY" dirty="0" smtClean="0"/>
              <a:t>fabricante</a:t>
            </a:r>
          </a:p>
          <a:p>
            <a:endParaRPr lang="es-UY" b="1" dirty="0"/>
          </a:p>
          <a:p>
            <a:pPr marL="0" indent="0">
              <a:buNone/>
            </a:pPr>
            <a:r>
              <a:rPr lang="es-UY" b="1" dirty="0" smtClean="0"/>
              <a:t>   SELECT </a:t>
            </a:r>
            <a:r>
              <a:rPr lang="es-UY" dirty="0" smtClean="0"/>
              <a:t>MAX (promedio)</a:t>
            </a:r>
          </a:p>
          <a:p>
            <a:pPr marL="0" indent="0">
              <a:buNone/>
            </a:pPr>
            <a:r>
              <a:rPr lang="es-UY" b="1" dirty="0"/>
              <a:t> </a:t>
            </a:r>
            <a:r>
              <a:rPr lang="es-UY" b="1" dirty="0" smtClean="0"/>
              <a:t>  FROM </a:t>
            </a:r>
            <a:r>
              <a:rPr lang="es-UY" dirty="0"/>
              <a:t>(SELECT AVG (precio) as promedio</a:t>
            </a:r>
          </a:p>
          <a:p>
            <a:pPr marL="365760" lvl="1" indent="0">
              <a:buNone/>
            </a:pPr>
            <a:r>
              <a:rPr lang="es-UY" sz="2400" dirty="0" smtClean="0"/>
              <a:t>              FROM </a:t>
            </a:r>
            <a:r>
              <a:rPr lang="es-UY" sz="2400" dirty="0"/>
              <a:t>ventas</a:t>
            </a:r>
          </a:p>
          <a:p>
            <a:pPr marL="365760" lvl="1" indent="0">
              <a:buNone/>
            </a:pPr>
            <a:r>
              <a:rPr lang="en-US" sz="2400" dirty="0" smtClean="0"/>
              <a:t>              GROUP </a:t>
            </a:r>
            <a:r>
              <a:rPr lang="en-US" sz="2400" dirty="0"/>
              <a:t>BY </a:t>
            </a:r>
            <a:r>
              <a:rPr lang="en-US" sz="2400" dirty="0" smtClean="0"/>
              <a:t>nroFab) </a:t>
            </a:r>
            <a:r>
              <a:rPr lang="en-US" sz="2400" b="1" dirty="0" smtClean="0"/>
              <a:t>as </a:t>
            </a:r>
            <a:r>
              <a:rPr lang="en-US" sz="2400" dirty="0"/>
              <a:t>promedios</a:t>
            </a:r>
            <a:endParaRPr lang="es-UY" sz="2400" dirty="0"/>
          </a:p>
        </p:txBody>
      </p:sp>
    </p:spTree>
    <p:extLst>
      <p:ext uri="{BB962C8B-B14F-4D97-AF65-F5344CB8AC3E}">
        <p14:creationId xmlns:p14="http://schemas.microsoft.com/office/powerpoint/2010/main" val="427544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Cambios de formato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UY" dirty="0" smtClean="0"/>
              <a:t>Por defecto existen funciones que permiten manipular los tipos de datos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dirty="0" smtClean="0"/>
              <a:t>Los manejadores también disponen de funciones específicas</a:t>
            </a:r>
          </a:p>
          <a:p>
            <a:pPr marL="0" indent="0">
              <a:buNone/>
            </a:pPr>
            <a:endParaRPr lang="es-UY" dirty="0" smtClean="0"/>
          </a:p>
          <a:p>
            <a:r>
              <a:rPr lang="es-UY" b="1" dirty="0" smtClean="0"/>
              <a:t>Concatenación de string</a:t>
            </a:r>
            <a:r>
              <a:rPr lang="es-UY" dirty="0" smtClean="0"/>
              <a:t>: Se utiliza el operador | |</a:t>
            </a:r>
          </a:p>
          <a:p>
            <a:pPr marL="301943" lvl="1" indent="0">
              <a:buNone/>
            </a:pPr>
            <a:endParaRPr lang="es-UY" dirty="0" smtClean="0"/>
          </a:p>
          <a:p>
            <a:pPr marL="274320" lvl="1"/>
            <a:r>
              <a:rPr lang="es-UY" b="1" dirty="0" smtClean="0"/>
              <a:t>Mayúsculas y minúsculas</a:t>
            </a:r>
            <a:r>
              <a:rPr lang="es-UY" dirty="0" smtClean="0"/>
              <a:t>: </a:t>
            </a:r>
            <a:r>
              <a:rPr lang="es-UY" dirty="0"/>
              <a:t>upper(&lt;atributo</a:t>
            </a:r>
            <a:r>
              <a:rPr lang="es-UY" dirty="0" smtClean="0"/>
              <a:t>&gt;), lower(&lt;atributo&gt;)</a:t>
            </a:r>
          </a:p>
          <a:p>
            <a:pPr marL="301943" lvl="1" indent="0">
              <a:buNone/>
            </a:pPr>
            <a:endParaRPr lang="es-UY" dirty="0" smtClean="0"/>
          </a:p>
        </p:txBody>
      </p:sp>
    </p:spTree>
    <p:extLst>
      <p:ext uri="{BB962C8B-B14F-4D97-AF65-F5344CB8AC3E}">
        <p14:creationId xmlns:p14="http://schemas.microsoft.com/office/powerpoint/2010/main" val="286624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Y" dirty="0" smtClean="0"/>
              <a:t>Material de consulta</a:t>
            </a:r>
            <a:endParaRPr lang="es-UY" dirty="0"/>
          </a:p>
        </p:txBody>
      </p:sp>
      <p:sp>
        <p:nvSpPr>
          <p:cNvPr id="2" name="1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UY" dirty="0" smtClean="0"/>
              <a:t>Tutorial de SQL</a:t>
            </a:r>
          </a:p>
          <a:p>
            <a:pPr lvl="1">
              <a:buFont typeface="Wingdings" pitchFamily="2" charset="2"/>
              <a:buChar char="§"/>
            </a:pPr>
            <a:r>
              <a:rPr lang="es-UY" dirty="0">
                <a:hlinkClick r:id="rId2"/>
              </a:rPr>
              <a:t>http://</a:t>
            </a:r>
            <a:r>
              <a:rPr lang="es-UY" dirty="0" smtClean="0">
                <a:hlinkClick r:id="rId2"/>
              </a:rPr>
              <a:t>www.w3schools.com/sql/default.asp</a:t>
            </a:r>
            <a:endParaRPr lang="es-UY" dirty="0" smtClean="0"/>
          </a:p>
          <a:p>
            <a:pPr marL="301943" lvl="1" indent="0">
              <a:buNone/>
            </a:pPr>
            <a:endParaRPr lang="es-UY" dirty="0"/>
          </a:p>
          <a:p>
            <a:pPr marL="0" indent="0">
              <a:buNone/>
            </a:pPr>
            <a:r>
              <a:rPr lang="es-UY" dirty="0" smtClean="0"/>
              <a:t>Tutorial interactivo de SQL</a:t>
            </a:r>
          </a:p>
          <a:p>
            <a:pPr lvl="1">
              <a:buFont typeface="Wingdings" pitchFamily="2" charset="2"/>
              <a:buChar char="§"/>
            </a:pPr>
            <a:r>
              <a:rPr lang="es-UY" dirty="0">
                <a:hlinkClick r:id="rId3"/>
              </a:rPr>
              <a:t>http://</a:t>
            </a:r>
            <a:r>
              <a:rPr lang="es-UY" dirty="0" smtClean="0">
                <a:hlinkClick r:id="rId3"/>
              </a:rPr>
              <a:t>sqlzoo.net/</a:t>
            </a:r>
            <a:endParaRPr lang="es-UY" dirty="0"/>
          </a:p>
          <a:p>
            <a:pPr lvl="1">
              <a:buFont typeface="Wingdings" pitchFamily="2" charset="2"/>
              <a:buChar char="§"/>
            </a:pPr>
            <a:endParaRPr lang="es-UY" dirty="0" smtClean="0"/>
          </a:p>
          <a:p>
            <a:pPr marL="0" indent="0">
              <a:buNone/>
            </a:pPr>
            <a:r>
              <a:rPr lang="es-UY" dirty="0" smtClean="0"/>
              <a:t>Documentación PostgreSQL</a:t>
            </a:r>
          </a:p>
          <a:p>
            <a:pPr lvl="1">
              <a:buFont typeface="Wingdings" pitchFamily="2" charset="2"/>
              <a:buChar char="§"/>
            </a:pPr>
            <a:r>
              <a:rPr lang="es-UY" dirty="0" smtClean="0">
                <a:hlinkClick r:id="rId4"/>
              </a:rPr>
              <a:t>http</a:t>
            </a:r>
            <a:r>
              <a:rPr lang="es-UY" dirty="0">
                <a:hlinkClick r:id="rId4"/>
              </a:rPr>
              <a:t>://www.postgresql.org/docs</a:t>
            </a:r>
            <a:r>
              <a:rPr lang="es-UY" dirty="0" smtClean="0">
                <a:hlinkClick r:id="rId4"/>
              </a:rPr>
              <a:t>/</a:t>
            </a:r>
            <a:endParaRPr lang="es-UY" dirty="0" smtClean="0"/>
          </a:p>
          <a:p>
            <a:pPr marL="301943" lvl="1" indent="0">
              <a:buNone/>
            </a:pPr>
            <a:endParaRPr lang="es-UY" dirty="0"/>
          </a:p>
        </p:txBody>
      </p:sp>
    </p:spTree>
    <p:extLst>
      <p:ext uri="{BB962C8B-B14F-4D97-AF65-F5344CB8AC3E}">
        <p14:creationId xmlns:p14="http://schemas.microsoft.com/office/powerpoint/2010/main" val="1873110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970</TotalTime>
  <Words>1423</Words>
  <Application>Microsoft Office PowerPoint</Application>
  <PresentationFormat>Presentación en pantalla (4:3)</PresentationFormat>
  <Paragraphs>300</Paragraphs>
  <Slides>31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31</vt:i4>
      </vt:variant>
    </vt:vector>
  </HeadingPairs>
  <TitlesOfParts>
    <vt:vector size="32" baseType="lpstr">
      <vt:lpstr>Mirador</vt:lpstr>
      <vt:lpstr>Bases de Datos 1</vt:lpstr>
      <vt:lpstr>Historia</vt:lpstr>
      <vt:lpstr>Características</vt:lpstr>
      <vt:lpstr>Data Definition Language (DDL)</vt:lpstr>
      <vt:lpstr>Operaciones sobre tablas</vt:lpstr>
      <vt:lpstr>Ejemplo</vt:lpstr>
      <vt:lpstr>Ejemplo</vt:lpstr>
      <vt:lpstr>Operaciones sobre vistas</vt:lpstr>
      <vt:lpstr>Data Manipulation Language (DML)</vt:lpstr>
      <vt:lpstr>DML</vt:lpstr>
      <vt:lpstr>Recuperación de datos</vt:lpstr>
      <vt:lpstr>Cláusula ORDER BY</vt:lpstr>
      <vt:lpstr>Cláusula DISTINCT</vt:lpstr>
      <vt:lpstr>Operador JOIN</vt:lpstr>
      <vt:lpstr>Ejemplo</vt:lpstr>
      <vt:lpstr>Otros tipos de JOIN</vt:lpstr>
      <vt:lpstr>Alias</vt:lpstr>
      <vt:lpstr>Renombrar atributos</vt:lpstr>
      <vt:lpstr>Unión (UNION)</vt:lpstr>
      <vt:lpstr>Diferencia (NOT IN)</vt:lpstr>
      <vt:lpstr>Funciones y operadores aritméticos</vt:lpstr>
      <vt:lpstr>Funciones de agregación</vt:lpstr>
      <vt:lpstr>Consultas anidadas</vt:lpstr>
      <vt:lpstr>Función EXISTS</vt:lpstr>
      <vt:lpstr>Cláusula GROUP BY</vt:lpstr>
      <vt:lpstr>Ejemplo</vt:lpstr>
      <vt:lpstr>Ejemplo</vt:lpstr>
      <vt:lpstr>Cláusula HAVING</vt:lpstr>
      <vt:lpstr>Sub-consultas en el FROM</vt:lpstr>
      <vt:lpstr>Cambios de formato</vt:lpstr>
      <vt:lpstr>Material de consulta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</dc:title>
  <dc:creator>Admin</dc:creator>
  <cp:lastModifiedBy>Admin</cp:lastModifiedBy>
  <cp:revision>101</cp:revision>
  <dcterms:created xsi:type="dcterms:W3CDTF">2012-06-29T01:36:22Z</dcterms:created>
  <dcterms:modified xsi:type="dcterms:W3CDTF">2012-08-11T02:18:56Z</dcterms:modified>
</cp:coreProperties>
</file>