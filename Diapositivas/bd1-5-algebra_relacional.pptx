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16" r:id="rId1"/>
  </p:sldMasterIdLst>
  <p:notesMasterIdLst>
    <p:notesMasterId r:id="rId3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5" r:id="rId17"/>
    <p:sldId id="273" r:id="rId18"/>
    <p:sldId id="274" r:id="rId19"/>
    <p:sldId id="286" r:id="rId20"/>
    <p:sldId id="287" r:id="rId21"/>
    <p:sldId id="288" r:id="rId22"/>
    <p:sldId id="289" r:id="rId23"/>
    <p:sldId id="290" r:id="rId24"/>
    <p:sldId id="275" r:id="rId25"/>
    <p:sldId id="276" r:id="rId26"/>
    <p:sldId id="278" r:id="rId27"/>
    <p:sldId id="279" r:id="rId28"/>
    <p:sldId id="280" r:id="rId29"/>
    <p:sldId id="282" r:id="rId30"/>
    <p:sldId id="283" r:id="rId31"/>
    <p:sldId id="284" r:id="rId32"/>
  </p:sldIdLst>
  <p:sldSz cx="9144000" cy="6858000" type="screen4x3"/>
  <p:notesSz cx="6858000" cy="9144000"/>
  <p:defaultTextStyle>
    <a:defPPr>
      <a:defRPr lang="es-UY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fld id="{B1495911-9E29-44E5-A445-53CC9A91FA5D}" type="datetimeFigureOut">
              <a:rPr lang="es-ES"/>
              <a:pPr>
                <a:defRPr/>
              </a:pPr>
              <a:t>09/08/2012</a:t>
            </a:fld>
            <a:endParaRPr lang="es-E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fld id="{E0D11A2F-E80A-4338-A476-7081B74B167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3624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>
              <a:latin typeface="Arial" charset="0"/>
              <a:cs typeface="Arial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11 Rectángulo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13 Rectángulo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18 Rectángulo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10 Conector recto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19 Conector recto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15 Conector recto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5" name="21 Conector recto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6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22 Elipse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23 Elipse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25 Elipse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24 Elipse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22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3BEC9-B9B4-4F39-9AF7-6D7D8931AB7A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23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24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DA4BA-2391-44E3-B331-4ADE880648D2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4E8CE62-EE0E-4145-884F-A878F0CC1BB4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5" name="8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7C355FF-C138-4F97-8705-99F4D7136A70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6" name="9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9 Rectángulo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10 Rectángulo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11 Rectángulo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12 Conector recto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14 Conector recto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15 Conector recto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19 Elipse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20 Elipse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21 Elipse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22 Elipse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25 Conector recto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7A3DB-A5AD-4B00-AE72-2904AB3FB405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21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22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6F4A0-41AB-413D-BA59-26A9082DF247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03123-95A8-446F-9B07-5235D0BED93D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3A25B-86B7-42ED-96A2-389AF6B27C22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779D5-6412-4EB3-AA84-B2FB166592AE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9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87192-6CF1-44BE-A380-4F5E47AC4F9C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C6219C6-3C28-483E-AB10-EE5EB1ADF409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4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EFAC93C-BA0D-40B2-92C2-323FE831DFA4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5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D8884-A295-4729-A942-DECAAA297DC7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4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F27F9-8677-4785-A6B3-E0FA29A6FB80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7" name="8 Conector recto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13 Elipse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2" name="20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662D6FA-093F-4D9D-8E53-21ECD3CE2C32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13" name="21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582FD29-22E6-4623-976B-EE004A3ADF21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14" name="22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12 Elipse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1" name="19 Conector recto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 smtClean="0"/>
              <a:t>Haga clic en el icono para agregar una imagen</a:t>
            </a:r>
            <a:endParaRPr lang="en-US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59D2CA5-FBE9-42F1-ABFF-1806044D6057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13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0E271A9-D6A2-412C-898B-0F26BE22A8B8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14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41FA4-2B74-4599-AF47-02BF1020A97F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29F86-B6FA-4490-B80D-7183D2EA4695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70585-1D4A-4DE1-95D7-FCF48A085998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5BE57-B467-433E-8A36-FC47D46067FD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028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smtClean="0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8DF33D0C-C37D-4311-8968-9DCCBE72FE91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11 Elipse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D460BA2E-B185-4533-9ACA-3EC6DCA3A764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23" r:id="rId4"/>
    <p:sldLayoutId id="2147484724" r:id="rId5"/>
    <p:sldLayoutId id="2147484731" r:id="rId6"/>
    <p:sldLayoutId id="2147484725" r:id="rId7"/>
    <p:sldLayoutId id="2147484732" r:id="rId8"/>
    <p:sldLayoutId id="2147484733" r:id="rId9"/>
    <p:sldLayoutId id="2147484726" r:id="rId10"/>
    <p:sldLayoutId id="214748472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16.png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8.bin"/><Relationship Id="rId4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UY" dirty="0" smtClean="0"/>
              <a:t>Bases </a:t>
            </a:r>
            <a:r>
              <a:rPr lang="es-UY" smtClean="0"/>
              <a:t>de </a:t>
            </a:r>
            <a:r>
              <a:rPr lang="es-UY" smtClean="0"/>
              <a:t>datos </a:t>
            </a:r>
            <a:r>
              <a:rPr lang="es-UY" dirty="0" smtClean="0"/>
              <a:t>1</a:t>
            </a:r>
            <a:endParaRPr lang="es-UY" dirty="0"/>
          </a:p>
        </p:txBody>
      </p:sp>
      <p:sp>
        <p:nvSpPr>
          <p:cNvPr id="14338" name="2 Subtítulo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r>
              <a:rPr lang="es-UY" smtClean="0"/>
              <a:t>Teórico</a:t>
            </a:r>
            <a:r>
              <a:rPr lang="es-UY" dirty="0" smtClean="0"/>
              <a:t>: Algebra Relacional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476250"/>
            <a:ext cx="8083550" cy="1071563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ALGEBRA RELACIONAL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468313" y="1773238"/>
            <a:ext cx="8064500" cy="4757737"/>
          </a:xfrm>
        </p:spPr>
        <p:txBody>
          <a:bodyPr lIns="0" tIns="0" rIns="0" bIns="0"/>
          <a:lstStyle/>
          <a:p>
            <a:pPr eaLnBrk="1" hangingPunct="1"/>
            <a:r>
              <a:rPr lang="es-ES" smtClean="0">
                <a:latin typeface="Verdana" pitchFamily="34" charset="0"/>
              </a:rPr>
              <a:t>Conjunto</a:t>
            </a:r>
            <a:r>
              <a:rPr lang="en-US" smtClean="0">
                <a:latin typeface="Verdana" pitchFamily="34" charset="0"/>
              </a:rPr>
              <a:t> de operadores para consultar BDs Relacionales.</a:t>
            </a:r>
          </a:p>
          <a:p>
            <a:pPr eaLnBrk="1" hangingPunct="1"/>
            <a:r>
              <a:rPr lang="en-US" smtClean="0">
                <a:latin typeface="Verdana" pitchFamily="34" charset="0"/>
              </a:rPr>
              <a:t>Operaciones relacionales unarias: Selección y Proyección</a:t>
            </a:r>
          </a:p>
          <a:p>
            <a:pPr eaLnBrk="1" hangingPunct="1"/>
            <a:r>
              <a:rPr lang="es-ES" smtClean="0">
                <a:latin typeface="Verdana" pitchFamily="34" charset="0"/>
              </a:rPr>
              <a:t>Operaciones de álgebra relacional de la Teoría de Conjuntos </a:t>
            </a:r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Operaciones relacionales binarias: JOIN y DIVISION</a:t>
            </a:r>
          </a:p>
          <a:p>
            <a:pPr eaLnBrk="1" hangingPunct="1"/>
            <a:r>
              <a:rPr lang="en-US" smtClean="0">
                <a:latin typeface="Verdana" pitchFamily="34" charset="0"/>
              </a:rPr>
              <a:t>Referencia: Fundamental of Database Systems 6ta edición (E-N). Capítulo 6.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323850" y="333375"/>
            <a:ext cx="7467600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unarias:</a:t>
            </a:r>
            <a:br>
              <a:rPr lang="en-US" cap="none" smtClean="0">
                <a:latin typeface="Verdana" pitchFamily="34" charset="0"/>
              </a:rPr>
            </a:br>
            <a:r>
              <a:rPr lang="en-US" cap="none" smtClean="0">
                <a:latin typeface="Verdana" pitchFamily="34" charset="0"/>
              </a:rPr>
              <a:t>SELECCIÓN Y PROYECCIÓN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4294967295"/>
          </p:nvPr>
        </p:nvSpPr>
        <p:spPr>
          <a:xfrm>
            <a:off x="395288" y="1628775"/>
            <a:ext cx="8228012" cy="4524375"/>
          </a:xfrm>
        </p:spPr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Selección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Permite obtener las tuplas que cumplen una cierta condición</a:t>
            </a:r>
          </a:p>
          <a:p>
            <a:pPr lvl="2" eaLnBrk="1" hangingPunct="1"/>
            <a:r>
              <a:rPr lang="en-US" sz="2400" smtClean="0">
                <a:latin typeface="Verdana" pitchFamily="34" charset="0"/>
              </a:rPr>
              <a:t>Condicción de selección contiene cláusulas con la forma:</a:t>
            </a:r>
          </a:p>
          <a:p>
            <a:pPr lvl="2" eaLnBrk="1" hangingPunct="1">
              <a:buFont typeface="Arial" charset="0"/>
              <a:buNone/>
            </a:pPr>
            <a:r>
              <a:rPr lang="en-US" sz="2400" smtClean="0">
                <a:latin typeface="Verdana" pitchFamily="34" charset="0"/>
              </a:rPr>
              <a:t> </a:t>
            </a:r>
            <a:r>
              <a:rPr lang="en-US" sz="1600" smtClean="0">
                <a:latin typeface="Verdana" pitchFamily="34" charset="0"/>
              </a:rPr>
              <a:t>&lt;nombre de atributo&gt; &lt;oper. comparación&gt; &lt;valor constante&gt;</a:t>
            </a:r>
          </a:p>
          <a:p>
            <a:pPr lvl="2" eaLnBrk="1" hangingPunct="1">
              <a:buFont typeface="Arial" charset="0"/>
              <a:buNone/>
            </a:pPr>
            <a:r>
              <a:rPr lang="en-US" sz="2400" smtClean="0">
                <a:latin typeface="Verdana" pitchFamily="34" charset="0"/>
              </a:rPr>
              <a:t>	o</a:t>
            </a:r>
          </a:p>
          <a:p>
            <a:pPr lvl="2" eaLnBrk="1" hangingPunct="1">
              <a:buFont typeface="Arial" charset="0"/>
              <a:buNone/>
            </a:pPr>
            <a:r>
              <a:rPr lang="en-US" sz="1600" smtClean="0">
                <a:latin typeface="Verdana" pitchFamily="34" charset="0"/>
              </a:rPr>
              <a:t> &lt; nombre de atributo&gt; &lt; oper. comparación&gt; &lt;nombre de atributo&gt;</a:t>
            </a:r>
          </a:p>
        </p:txBody>
      </p:sp>
      <p:pic>
        <p:nvPicPr>
          <p:cNvPr id="1741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3350" y="2349500"/>
            <a:ext cx="3581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5"/>
          <p:cNvSpPr>
            <a:spLocks noGrp="1"/>
          </p:cNvSpPr>
          <p:nvPr>
            <p:ph type="title" idx="4294967295"/>
          </p:nvPr>
        </p:nvSpPr>
        <p:spPr bwMode="auto">
          <a:xfrm>
            <a:off x="458788" y="260350"/>
            <a:ext cx="8685212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unarias </a:t>
            </a:r>
            <a:br>
              <a:rPr lang="en-US" cap="none" smtClean="0">
                <a:latin typeface="Verdana" pitchFamily="34" charset="0"/>
              </a:rPr>
            </a:br>
            <a:r>
              <a:rPr lang="en-US" cap="none" smtClean="0">
                <a:latin typeface="Verdana" pitchFamily="34" charset="0"/>
              </a:rPr>
              <a:t>SELECCIÓN  y PROYECCIÓN (2)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Ejemplo: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&lt;selection condition&gt; aplicada a cada tupla en R de manera independiente.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Si la condición evalua en TRUE, entonces la tupla es seleccionada.</a:t>
            </a:r>
          </a:p>
          <a:p>
            <a:pPr eaLnBrk="1" hangingPunct="1"/>
            <a:r>
              <a:rPr lang="en-US" smtClean="0">
                <a:latin typeface="Verdana" pitchFamily="34" charset="0"/>
              </a:rPr>
              <a:t>Condiciones booleandas </a:t>
            </a:r>
            <a:r>
              <a:rPr lang="en-US" b="1" smtClean="0">
                <a:latin typeface="Verdana" pitchFamily="34" charset="0"/>
              </a:rPr>
              <a:t>AND</a:t>
            </a:r>
            <a:r>
              <a:rPr lang="en-US" smtClean="0">
                <a:latin typeface="Verdana" pitchFamily="34" charset="0"/>
              </a:rPr>
              <a:t>, </a:t>
            </a:r>
            <a:r>
              <a:rPr lang="en-US" b="1" smtClean="0">
                <a:latin typeface="Verdana" pitchFamily="34" charset="0"/>
              </a:rPr>
              <a:t>OR</a:t>
            </a:r>
            <a:r>
              <a:rPr lang="en-US" smtClean="0">
                <a:latin typeface="Verdana" pitchFamily="34" charset="0"/>
              </a:rPr>
              <a:t>, y </a:t>
            </a:r>
            <a:r>
              <a:rPr lang="en-US" b="1" smtClean="0">
                <a:latin typeface="Verdana" pitchFamily="34" charset="0"/>
              </a:rPr>
              <a:t>NOT</a:t>
            </a:r>
          </a:p>
          <a:p>
            <a:pPr eaLnBrk="1" hangingPunct="1"/>
            <a:r>
              <a:rPr lang="en-US" smtClean="0">
                <a:latin typeface="Verdana" pitchFamily="34" charset="0"/>
              </a:rPr>
              <a:t>Unarias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Aplicadas a una relación</a:t>
            </a:r>
          </a:p>
        </p:txBody>
      </p:sp>
      <p:pic>
        <p:nvPicPr>
          <p:cNvPr id="1843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193925"/>
            <a:ext cx="69326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PROYECCIÓN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Permite obtener las tuplas con un cierto conjunto de atributos.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Grado</a:t>
            </a:r>
          </a:p>
          <a:p>
            <a:pPr lvl="2" eaLnBrk="1" hangingPunct="1"/>
            <a:r>
              <a:rPr lang="en-US" sz="2400" smtClean="0">
                <a:latin typeface="Verdana" pitchFamily="34" charset="0"/>
              </a:rPr>
              <a:t>Número de atributos en &lt;attribute list&gt;</a:t>
            </a:r>
          </a:p>
          <a:p>
            <a:pPr lvl="2" eaLnBrk="1" hangingPunct="1"/>
            <a:endParaRPr lang="en-US" sz="2400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Eliminación de duplicados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En el resultado de la proyección no existen tuplas repetidas. Por lo que al realizar una proyección podrían quedar menos tuplas que en la relación de partida.</a:t>
            </a:r>
          </a:p>
        </p:txBody>
      </p:sp>
      <p:pic>
        <p:nvPicPr>
          <p:cNvPr id="1945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2492375"/>
            <a:ext cx="2662237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SECUENCIAS Y RENOMBRE </a:t>
            </a:r>
            <a:br>
              <a:rPr lang="en-US" cap="none" smtClean="0">
                <a:latin typeface="Verdana" pitchFamily="34" charset="0"/>
              </a:rPr>
            </a:br>
            <a:r>
              <a:rPr lang="en-US" cap="none" smtClean="0">
                <a:latin typeface="Verdana" pitchFamily="34" charset="0"/>
              </a:rPr>
              <a:t>de operaciones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Expresión</a:t>
            </a:r>
            <a:r>
              <a:rPr lang="en-US" b="1" smtClean="0">
                <a:latin typeface="Verdana" pitchFamily="34" charset="0"/>
              </a:rPr>
              <a:t> </a:t>
            </a:r>
            <a:r>
              <a:rPr lang="en-US" smtClean="0">
                <a:latin typeface="Verdana" pitchFamily="34" charset="0"/>
              </a:rPr>
              <a:t>In-line: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Secuencia de operaciones: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Renombre de atributos en resultados intermedios</a:t>
            </a:r>
            <a:endParaRPr lang="en-US" sz="2700" smtClean="0">
              <a:latin typeface="Verdana" pitchFamily="34" charset="0"/>
            </a:endParaRPr>
          </a:p>
        </p:txBody>
      </p:sp>
      <p:pic>
        <p:nvPicPr>
          <p:cNvPr id="20483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209800"/>
            <a:ext cx="4162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550" y="3500438"/>
            <a:ext cx="456247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7088" y="5516563"/>
            <a:ext cx="6850062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395288" y="260350"/>
            <a:ext cx="8748712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sobre TEORIA DE CONJUNTOS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b="1" smtClean="0">
                <a:latin typeface="Verdana" pitchFamily="34" charset="0"/>
              </a:rPr>
              <a:t>UNION</a:t>
            </a:r>
            <a:r>
              <a:rPr lang="en-US" smtClean="0">
                <a:latin typeface="Verdana" pitchFamily="34" charset="0"/>
              </a:rPr>
              <a:t>, </a:t>
            </a:r>
            <a:r>
              <a:rPr lang="en-US" b="1" smtClean="0">
                <a:latin typeface="Verdana" pitchFamily="34" charset="0"/>
              </a:rPr>
              <a:t>INTERSECCIÓN y RESTA 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Operaciones binarias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Las relaciones deben tener el mismo esquema (o ser compatibles)</a:t>
            </a:r>
          </a:p>
          <a:p>
            <a:pPr lvl="1"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UNION</a:t>
            </a:r>
          </a:p>
          <a:p>
            <a:pPr lvl="1" eaLnBrk="1" hangingPunct="1"/>
            <a:r>
              <a:rPr lang="en-US" sz="2400" i="1" smtClean="0">
                <a:latin typeface="Verdana" pitchFamily="34" charset="0"/>
              </a:rPr>
              <a:t>R</a:t>
            </a:r>
            <a:r>
              <a:rPr lang="en-US" sz="2400" smtClean="0">
                <a:latin typeface="Verdana" pitchFamily="34" charset="0"/>
              </a:rPr>
              <a:t> U </a:t>
            </a:r>
            <a:r>
              <a:rPr lang="en-US" sz="2400" i="1" smtClean="0">
                <a:latin typeface="Verdana" pitchFamily="34" charset="0"/>
              </a:rPr>
              <a:t>S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Da como resultado otra relación cuyo esquema es igual al de R (y S)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Y que tiene como conjunto de tuplas a la unión de las de R y S.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Las tuplas duplicadas son eliminadas.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4"/>
          <p:cNvSpPr>
            <a:spLocks noGrp="1"/>
          </p:cNvSpPr>
          <p:nvPr>
            <p:ph type="title" idx="4294967295"/>
          </p:nvPr>
        </p:nvSpPr>
        <p:spPr bwMode="auto">
          <a:xfrm>
            <a:off x="458788" y="333375"/>
            <a:ext cx="8685212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sobre TEORIA DE CONJUNTOS(2)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>
              <a:buClr>
                <a:srgbClr val="800000"/>
              </a:buClr>
              <a:buFont typeface="Wingdings" pitchFamily="2" charset="2"/>
              <a:buChar char="§"/>
            </a:pPr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INTERSECCIÓN</a:t>
            </a:r>
          </a:p>
          <a:p>
            <a:pPr lvl="1" eaLnBrk="1" hangingPunct="1"/>
            <a:r>
              <a:rPr lang="en-US" sz="2400" i="1" smtClean="0">
                <a:latin typeface="Verdana" pitchFamily="34" charset="0"/>
              </a:rPr>
              <a:t>R</a:t>
            </a:r>
            <a:r>
              <a:rPr lang="en-US" sz="2400" smtClean="0">
                <a:latin typeface="Verdana" pitchFamily="34" charset="0"/>
              </a:rPr>
              <a:t> ∩ </a:t>
            </a:r>
            <a:r>
              <a:rPr lang="en-US" sz="2400" i="1" smtClean="0">
                <a:latin typeface="Verdana" pitchFamily="34" charset="0"/>
              </a:rPr>
              <a:t>S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Da como resultado otra relación cuyo esquema es igual al de R (y S)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Y que tiene como conjunto de tuplas a la intersección de las de R y 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4"/>
          <p:cNvSpPr>
            <a:spLocks noGrp="1"/>
          </p:cNvSpPr>
          <p:nvPr>
            <p:ph type="title" idx="4294967295"/>
          </p:nvPr>
        </p:nvSpPr>
        <p:spPr bwMode="auto">
          <a:xfrm>
            <a:off x="458788" y="260350"/>
            <a:ext cx="8685212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sobre TEORIA DE CONJUNTOS(3)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DIFERENCIA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z="2400" i="1" smtClean="0">
                <a:latin typeface="Verdana" pitchFamily="34" charset="0"/>
              </a:rPr>
              <a:t>R</a:t>
            </a:r>
            <a:r>
              <a:rPr lang="en-US" sz="2400" smtClean="0">
                <a:latin typeface="Verdana" pitchFamily="34" charset="0"/>
              </a:rPr>
              <a:t> – </a:t>
            </a:r>
            <a:r>
              <a:rPr lang="en-US" sz="2400" i="1" smtClean="0">
                <a:latin typeface="Verdana" pitchFamily="34" charset="0"/>
              </a:rPr>
              <a:t>S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Da como resultado otra relación cuyo esquema es igual al de R (y S)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Y que tiene como conjunto de tuplas a la resta de las de R menos las de 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457200" y="457200"/>
            <a:ext cx="8228013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PRODUCTO CARTESIANO</a:t>
            </a:r>
          </a:p>
        </p:txBody>
      </p:sp>
      <p:sp>
        <p:nvSpPr>
          <p:cNvPr id="24578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05013"/>
            <a:ext cx="7467600" cy="4468812"/>
          </a:xfrm>
        </p:spPr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Sean R y S dos relaciones con esquemas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(A1,...,An) y (B1,...,Bm) respectivamente.</a:t>
            </a:r>
          </a:p>
          <a:p>
            <a:pPr lvl="1" eaLnBrk="1" hangingPunct="1">
              <a:buFont typeface="Wingdings 2" pitchFamily="18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La operación R x S da como resultado:</a:t>
            </a:r>
          </a:p>
          <a:p>
            <a:pPr lvl="2" eaLnBrk="1" hangingPunct="1"/>
            <a:r>
              <a:rPr lang="en-US" smtClean="0">
                <a:latin typeface="Verdana" pitchFamily="34" charset="0"/>
              </a:rPr>
              <a:t>otra relacion cuyo esquema es (A1,...,An,B1,...,Bm)</a:t>
            </a:r>
          </a:p>
          <a:p>
            <a:pPr lvl="2" eaLnBrk="1" hangingPunct="1"/>
            <a:r>
              <a:rPr lang="en-US" smtClean="0">
                <a:latin typeface="Verdana" pitchFamily="34" charset="0"/>
              </a:rPr>
              <a:t>y cuyas tuplas son generadas por todas las combinaciones posibles de las de R con las de 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4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468313" y="549275"/>
            <a:ext cx="8228012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PRODUCTO CARTESIANO(2)</a:t>
            </a:r>
          </a:p>
        </p:txBody>
      </p:sp>
      <p:sp>
        <p:nvSpPr>
          <p:cNvPr id="39945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05013"/>
            <a:ext cx="7467600" cy="4468812"/>
          </a:xfrm>
        </p:spPr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Ejemplos: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lvl="1" eaLnBrk="1" hangingPunct="1">
              <a:buFont typeface="Wingdings 2" pitchFamily="18" charset="2"/>
              <a:buNone/>
            </a:pPr>
            <a:r>
              <a:rPr lang="es-UY" smtClean="0">
                <a:latin typeface="Verdana" pitchFamily="34" charset="0"/>
              </a:rPr>
              <a:t>         </a:t>
            </a:r>
            <a:r>
              <a:rPr lang="en-US" smtClean="0">
                <a:latin typeface="Verdana" pitchFamily="34" charset="0"/>
              </a:rPr>
              <a:t>(PRODS)  x           (VENTAS)</a:t>
            </a:r>
          </a:p>
          <a:p>
            <a:pPr lvl="1" eaLnBrk="1" hangingPunct="1">
              <a:buFont typeface="Wingdings 2" pitchFamily="18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da como resultado: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#p    desc     #f   #p   precio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1       t1       1      1      100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1       t1       1      2      200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2       t2       1      1      100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2       t2       1      2      200</a:t>
            </a:r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Este operador permite combinar las tuplas de dos tablas.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</p:txBody>
      </p:sp>
      <p:sp>
        <p:nvSpPr>
          <p:cNvPr id="399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4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900113" y="2708275"/>
          <a:ext cx="7921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0" name="Ecuación" r:id="rId3" imgW="342720" imgH="241200" progId="Equation.3">
                  <p:embed/>
                </p:oleObj>
              </mc:Choice>
              <mc:Fallback>
                <p:oleObj name="Ecuación" r:id="rId3" imgW="342720" imgH="241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708275"/>
                        <a:ext cx="792162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3419475" y="2708275"/>
          <a:ext cx="7921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1" name="Ecuación" r:id="rId5" imgW="342720" imgH="241200" progId="Equation.3">
                  <p:embed/>
                </p:oleObj>
              </mc:Choice>
              <mc:Fallback>
                <p:oleObj name="Ecuación" r:id="rId5" imgW="34272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08275"/>
                        <a:ext cx="792163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1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457200" y="457200"/>
            <a:ext cx="8228013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PRODUCTO CARTESIANO(3)</a:t>
            </a:r>
          </a:p>
        </p:txBody>
      </p:sp>
      <p:sp>
        <p:nvSpPr>
          <p:cNvPr id="40972" name="Content Placeholder 2"/>
          <p:cNvSpPr>
            <a:spLocks noGrp="1"/>
          </p:cNvSpPr>
          <p:nvPr>
            <p:ph idx="4294967295"/>
          </p:nvPr>
        </p:nvSpPr>
        <p:spPr>
          <a:xfrm>
            <a:off x="468313" y="1700213"/>
            <a:ext cx="7467600" cy="4468812"/>
          </a:xfrm>
        </p:spPr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Ejemplos: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lvl="1" eaLnBrk="1" hangingPunct="1">
              <a:buClr>
                <a:srgbClr val="800000"/>
              </a:buClr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        </a:t>
            </a:r>
            <a:r>
              <a:rPr lang="en-US" smtClean="0">
                <a:latin typeface="Verdana" pitchFamily="34" charset="0"/>
              </a:rPr>
              <a:t>(        (PRODS)  x           (VENTAS))</a:t>
            </a:r>
          </a:p>
          <a:p>
            <a:pPr lvl="1" eaLnBrk="1" hangingPunct="1"/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da como resultado:</a:t>
            </a:r>
          </a:p>
          <a:p>
            <a:pPr lvl="1" eaLnBrk="1" hangingPunct="1">
              <a:buFont typeface="Wingdings 2" pitchFamily="18" charset="2"/>
              <a:buNone/>
            </a:pPr>
            <a:endParaRPr lang="en-US" smtClean="0">
              <a:latin typeface="Verdana" pitchFamily="34" charset="0"/>
            </a:endParaRP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#p    desc    #f   #p   precio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1       t1       1      1      100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1       t1       1      2      200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2       t2       1      1      100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2       t2       1      2      200</a:t>
            </a:r>
          </a:p>
          <a:p>
            <a:pPr lvl="1" eaLnBrk="1" hangingPunct="1"/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Este operador permite combinar las tuplas de dos tablas.</a:t>
            </a:r>
          </a:p>
          <a:p>
            <a:pPr lvl="1" eaLnBrk="1" hangingPunct="1"/>
            <a:endParaRPr lang="en-US" smtClean="0">
              <a:latin typeface="Verdana" pitchFamily="34" charset="0"/>
            </a:endParaRP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#p    desc    #f   #p   precio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1       t1       1      1      100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1       t1       1      2      200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2       t2       1      1      100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s-UY" smtClean="0">
                <a:latin typeface="Verdana" pitchFamily="34" charset="0"/>
              </a:rPr>
              <a:t> 2       t2       1      2      200</a:t>
            </a:r>
          </a:p>
          <a:p>
            <a:pPr lvl="2" eaLnBrk="1" hangingPunct="1">
              <a:buFont typeface="Wingdings" pitchFamily="2" charset="2"/>
              <a:buNone/>
            </a:pPr>
            <a:endParaRPr lang="es-UY" smtClean="0">
              <a:latin typeface="Verdana" pitchFamily="34" charset="0"/>
            </a:endParaRPr>
          </a:p>
          <a:p>
            <a:pPr lvl="2" eaLnBrk="1" hangingPunct="1"/>
            <a:r>
              <a:rPr lang="en-US" smtClean="0">
                <a:latin typeface="Verdana" pitchFamily="34" charset="0"/>
              </a:rPr>
              <a:t>Este operador permite combinar las tuplas de dos tablas.</a:t>
            </a:r>
          </a:p>
        </p:txBody>
      </p:sp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611188" y="2565400"/>
          <a:ext cx="9763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0" name="Ecuación" r:id="rId3" imgW="596880" imgH="241200" progId="Equation.3">
                  <p:embed/>
                </p:oleObj>
              </mc:Choice>
              <mc:Fallback>
                <p:oleObj name="Ecuación" r:id="rId3" imgW="596880" imgH="241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565400"/>
                        <a:ext cx="976312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/>
        </p:nvGraphicFramePr>
        <p:xfrm>
          <a:off x="1835150" y="2492375"/>
          <a:ext cx="6461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1" name="Ecuación" r:id="rId5" imgW="330120" imgH="228600" progId="Equation.3">
                  <p:embed/>
                </p:oleObj>
              </mc:Choice>
              <mc:Fallback>
                <p:oleObj name="Ecuación" r:id="rId5" imgW="33012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492375"/>
                        <a:ext cx="6461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4356100" y="2492375"/>
          <a:ext cx="6461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2" name="Ecuación" r:id="rId7" imgW="330120" imgH="228600" progId="Equation.3">
                  <p:embed/>
                </p:oleObj>
              </mc:Choice>
              <mc:Fallback>
                <p:oleObj name="Ecuación" r:id="rId7" imgW="330120" imgH="2286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492375"/>
                        <a:ext cx="6461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5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/>
              <a:t/>
            </a:r>
            <a:br>
              <a:rPr lang="en-US" cap="none" smtClean="0"/>
            </a:br>
            <a:r>
              <a:rPr lang="en-US" cap="none" smtClean="0">
                <a:latin typeface="Verdana" pitchFamily="34" charset="0"/>
              </a:rPr>
              <a:t>JOIN y DIVISION</a:t>
            </a:r>
          </a:p>
        </p:txBody>
      </p:sp>
      <p:sp>
        <p:nvSpPr>
          <p:cNvPr id="41996" name="Content Placeholder 2"/>
          <p:cNvSpPr>
            <a:spLocks noGrp="1"/>
          </p:cNvSpPr>
          <p:nvPr>
            <p:ph idx="4294967295"/>
          </p:nvPr>
        </p:nvSpPr>
        <p:spPr>
          <a:xfrm>
            <a:off x="457200" y="1817688"/>
            <a:ext cx="7467600" cy="4873625"/>
          </a:xfrm>
        </p:spPr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Operación de </a:t>
            </a:r>
            <a:r>
              <a:rPr lang="en-US" b="1" smtClean="0">
                <a:latin typeface="Verdana" pitchFamily="34" charset="0"/>
              </a:rPr>
              <a:t>JOIN</a:t>
            </a:r>
          </a:p>
          <a:p>
            <a:pPr lvl="1" eaLnBrk="1" hangingPunct="1"/>
            <a:r>
              <a:rPr lang="en-US" smtClean="0">
                <a:latin typeface="Verdana" pitchFamily="34" charset="0"/>
              </a:rPr>
              <a:t>Permite combinar tuplas de dos relaciones a través de una condición sobre los atributos. </a:t>
            </a:r>
          </a:p>
          <a:p>
            <a:pPr lvl="1" eaLnBrk="1" hangingPunct="1"/>
            <a:r>
              <a:rPr lang="en-US" smtClean="0">
                <a:latin typeface="Verdana" pitchFamily="34" charset="0"/>
              </a:rPr>
              <a:t>Corresponde a una selección sobre el producto cartesiano de las relaciones.</a:t>
            </a:r>
          </a:p>
          <a:p>
            <a:pPr lvl="1" eaLnBrk="1" hangingPunct="1"/>
            <a:endParaRPr lang="en-US" smtClean="0">
              <a:latin typeface="Verdana" pitchFamily="34" charset="0"/>
            </a:endParaRPr>
          </a:p>
          <a:p>
            <a:pPr lvl="4" eaLnBrk="1" hangingPunct="1">
              <a:buFont typeface="Wingdings 2" pitchFamily="18" charset="2"/>
              <a:buNone/>
            </a:pPr>
            <a:r>
              <a:rPr lang="en-US" smtClean="0">
                <a:latin typeface="Verdana" pitchFamily="34" charset="0"/>
              </a:rPr>
              <a:t>			       </a:t>
            </a:r>
            <a:r>
              <a:rPr lang="en-US" sz="2000" smtClean="0">
                <a:latin typeface="Verdana" pitchFamily="34" charset="0"/>
              </a:rPr>
              <a:t>equiv.</a:t>
            </a:r>
          </a:p>
          <a:p>
            <a:pPr lvl="1" eaLnBrk="1" hangingPunct="1"/>
            <a:endParaRPr lang="en-US" sz="2000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Ejemplo:</a:t>
            </a:r>
          </a:p>
          <a:p>
            <a:pPr lvl="1" eaLnBrk="1" hangingPunct="1">
              <a:buClr>
                <a:srgbClr val="0070C0"/>
              </a:buClr>
              <a:buFont typeface="Wingdings" pitchFamily="2" charset="2"/>
              <a:buChar char="§"/>
            </a:pPr>
            <a:endParaRPr lang="en-US" smtClean="0">
              <a:latin typeface="Verdana" pitchFamily="34" charset="0"/>
            </a:endParaRPr>
          </a:p>
          <a:p>
            <a:pPr lvl="1" eaLnBrk="1" hangingPunct="1">
              <a:buClr>
                <a:srgbClr val="0070C0"/>
              </a:buClr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>
              <a:buClr>
                <a:srgbClr val="0070C0"/>
              </a:buClr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>
              <a:buClr>
                <a:srgbClr val="0070C0"/>
              </a:buClr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>
              <a:buClr>
                <a:srgbClr val="0070C0"/>
              </a:buClr>
              <a:buFont typeface="Wingdings" pitchFamily="2" charset="2"/>
              <a:buNone/>
            </a:pPr>
            <a:r>
              <a:rPr lang="en-US" smtClean="0">
                <a:latin typeface="Verdana" pitchFamily="34" charset="0"/>
              </a:rPr>
              <a:t>				</a:t>
            </a:r>
          </a:p>
        </p:txBody>
      </p:sp>
      <p:pic>
        <p:nvPicPr>
          <p:cNvPr id="4199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4300" y="1700213"/>
            <a:ext cx="5334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8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1550" y="5373688"/>
            <a:ext cx="68992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979613" y="3933825"/>
          <a:ext cx="14398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4" name="Ecuación" r:id="rId5" imgW="609480" imgH="228600" progId="Equation.3">
                  <p:embed/>
                </p:oleObj>
              </mc:Choice>
              <mc:Fallback>
                <p:oleObj name="Ecuación" r:id="rId5" imgW="6094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933825"/>
                        <a:ext cx="143986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4643438" y="3933825"/>
          <a:ext cx="23050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5" name="Ecuación" r:id="rId7" imgW="965160" imgH="228600" progId="Equation.3">
                  <p:embed/>
                </p:oleObj>
              </mc:Choice>
              <mc:Fallback>
                <p:oleObj name="Ecuación" r:id="rId7" imgW="96516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933825"/>
                        <a:ext cx="23050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999" name="Picture 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692275" y="4005263"/>
            <a:ext cx="360363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1187450" y="3933825"/>
          <a:ext cx="37465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Ecuación" r:id="rId10" imgW="152280" imgH="164880" progId="Equation.3">
                  <p:embed/>
                </p:oleObj>
              </mc:Choice>
              <mc:Fallback>
                <p:oleObj name="Ecuación" r:id="rId10" imgW="152280" imgH="1648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933825"/>
                        <a:ext cx="37465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JOIN y DIVISION(2)</a:t>
            </a:r>
          </a:p>
        </p:txBody>
      </p:sp>
      <p:sp>
        <p:nvSpPr>
          <p:cNvPr id="43010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b="1" smtClean="0">
                <a:latin typeface="Verdana" pitchFamily="34" charset="0"/>
              </a:rPr>
              <a:t>THETA</a:t>
            </a:r>
            <a:r>
              <a:rPr lang="en-US" smtClean="0">
                <a:latin typeface="Verdana" pitchFamily="34" charset="0"/>
              </a:rPr>
              <a:t> JOIN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Cada &lt;condition&gt; es de la forma </a:t>
            </a:r>
            <a:r>
              <a:rPr lang="en-US" sz="2400" i="1" smtClean="0">
                <a:latin typeface="Verdana" pitchFamily="34" charset="0"/>
              </a:rPr>
              <a:t>A</a:t>
            </a:r>
            <a:r>
              <a:rPr lang="en-US" sz="2400" i="1" baseline="-25000" smtClean="0">
                <a:latin typeface="Verdana" pitchFamily="34" charset="0"/>
              </a:rPr>
              <a:t>i</a:t>
            </a:r>
            <a:r>
              <a:rPr lang="en-US" sz="2400" smtClean="0">
                <a:latin typeface="Verdana" pitchFamily="34" charset="0"/>
              </a:rPr>
              <a:t> θ </a:t>
            </a:r>
            <a:r>
              <a:rPr lang="en-US" sz="2400" i="1" smtClean="0">
                <a:latin typeface="Verdana" pitchFamily="34" charset="0"/>
              </a:rPr>
              <a:t>B</a:t>
            </a:r>
            <a:r>
              <a:rPr lang="en-US" sz="2400" i="1" baseline="-25000" smtClean="0">
                <a:latin typeface="Verdana" pitchFamily="34" charset="0"/>
              </a:rPr>
              <a:t>j</a:t>
            </a:r>
          </a:p>
          <a:p>
            <a:pPr lvl="1" eaLnBrk="1" hangingPunct="1"/>
            <a:r>
              <a:rPr lang="en-US" sz="2400" i="1" smtClean="0">
                <a:latin typeface="Verdana" pitchFamily="34" charset="0"/>
              </a:rPr>
              <a:t>A</a:t>
            </a:r>
            <a:r>
              <a:rPr lang="en-US" sz="2400" i="1" baseline="-25000" smtClean="0">
                <a:latin typeface="Verdana" pitchFamily="34" charset="0"/>
              </a:rPr>
              <a:t>i</a:t>
            </a:r>
            <a:r>
              <a:rPr lang="en-US" sz="2400" smtClean="0">
                <a:latin typeface="Verdana" pitchFamily="34" charset="0"/>
              </a:rPr>
              <a:t> es un atributo de </a:t>
            </a:r>
            <a:r>
              <a:rPr lang="en-US" sz="2400" i="1" smtClean="0">
                <a:latin typeface="Verdana" pitchFamily="34" charset="0"/>
              </a:rPr>
              <a:t>R</a:t>
            </a:r>
          </a:p>
          <a:p>
            <a:pPr lvl="1" eaLnBrk="1" hangingPunct="1"/>
            <a:r>
              <a:rPr lang="en-US" sz="2400" i="1" smtClean="0">
                <a:latin typeface="Verdana" pitchFamily="34" charset="0"/>
              </a:rPr>
              <a:t>B</a:t>
            </a:r>
            <a:r>
              <a:rPr lang="en-US" sz="2400" i="1" baseline="-25000" smtClean="0">
                <a:latin typeface="Verdana" pitchFamily="34" charset="0"/>
              </a:rPr>
              <a:t>j</a:t>
            </a:r>
            <a:r>
              <a:rPr lang="en-US" sz="2400" smtClean="0">
                <a:latin typeface="Verdana" pitchFamily="34" charset="0"/>
              </a:rPr>
              <a:t> es un atributo de </a:t>
            </a:r>
            <a:r>
              <a:rPr lang="en-US" sz="2400" i="1" smtClean="0">
                <a:latin typeface="Verdana" pitchFamily="34" charset="0"/>
              </a:rPr>
              <a:t>S</a:t>
            </a:r>
          </a:p>
          <a:p>
            <a:pPr lvl="1" eaLnBrk="1" hangingPunct="1"/>
            <a:r>
              <a:rPr lang="en-US" sz="2400" i="1" smtClean="0">
                <a:latin typeface="Verdana" pitchFamily="34" charset="0"/>
              </a:rPr>
              <a:t>A</a:t>
            </a:r>
            <a:r>
              <a:rPr lang="en-US" sz="2400" i="1" baseline="-25000" smtClean="0">
                <a:latin typeface="Verdana" pitchFamily="34" charset="0"/>
              </a:rPr>
              <a:t>i</a:t>
            </a:r>
            <a:r>
              <a:rPr lang="en-US" sz="2400" smtClean="0">
                <a:latin typeface="Verdana" pitchFamily="34" charset="0"/>
              </a:rPr>
              <a:t> y </a:t>
            </a:r>
            <a:r>
              <a:rPr lang="en-US" sz="2400" i="1" smtClean="0">
                <a:latin typeface="Verdana" pitchFamily="34" charset="0"/>
              </a:rPr>
              <a:t>B</a:t>
            </a:r>
            <a:r>
              <a:rPr lang="en-US" sz="2400" i="1" baseline="-25000" smtClean="0">
                <a:latin typeface="Verdana" pitchFamily="34" charset="0"/>
              </a:rPr>
              <a:t>j</a:t>
            </a:r>
            <a:r>
              <a:rPr lang="en-US" sz="2400" smtClean="0">
                <a:latin typeface="Verdana" pitchFamily="34" charset="0"/>
              </a:rPr>
              <a:t> tienen el mismo dominio</a:t>
            </a: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θ (theta) es una operación de comparación: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sz="2400" smtClean="0">
                <a:latin typeface="Verdana" pitchFamily="34" charset="0"/>
              </a:rPr>
              <a:t>{=, &lt;, ≤, &gt;, ≥, ≠}</a:t>
            </a:r>
          </a:p>
          <a:p>
            <a:pPr lvl="2" eaLnBrk="1" hangingPunct="1">
              <a:buFont typeface="Arial" charset="0"/>
              <a:buChar char="•"/>
            </a:pPr>
            <a:endParaRPr lang="en-US" sz="2400" smtClean="0"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EQUIJOIN y NATURAL JOIN</a:t>
            </a:r>
          </a:p>
        </p:txBody>
      </p:sp>
      <p:sp>
        <p:nvSpPr>
          <p:cNvPr id="44034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b="1" smtClean="0">
                <a:latin typeface="Verdana" pitchFamily="34" charset="0"/>
              </a:rPr>
              <a:t>EQUIJOIN</a:t>
            </a:r>
          </a:p>
          <a:p>
            <a:pPr lvl="1" eaLnBrk="1" hangingPunct="1"/>
            <a:r>
              <a:rPr lang="en-US" smtClean="0">
                <a:latin typeface="Verdana" pitchFamily="34" charset="0"/>
              </a:rPr>
              <a:t>Solo se usa el operador  “=“ </a:t>
            </a:r>
          </a:p>
          <a:p>
            <a:pPr lvl="1" eaLnBrk="1" hangingPunct="1">
              <a:buFont typeface="Wingdings 2" pitchFamily="18" charset="2"/>
              <a:buNone/>
            </a:pPr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b="1" smtClean="0">
                <a:latin typeface="Verdana" pitchFamily="34" charset="0"/>
              </a:rPr>
              <a:t>NATURAL JOIN</a:t>
            </a:r>
          </a:p>
          <a:p>
            <a:pPr lvl="1" eaLnBrk="1" hangingPunct="1"/>
            <a:r>
              <a:rPr lang="en-US" smtClean="0">
                <a:latin typeface="Verdana" pitchFamily="34" charset="0"/>
              </a:rPr>
              <a:t>Denoted by *:   R * S</a:t>
            </a:r>
          </a:p>
          <a:p>
            <a:pPr lvl="1" eaLnBrk="1" hangingPunct="1"/>
            <a:r>
              <a:rPr lang="en-US" smtClean="0">
                <a:latin typeface="Verdana" pitchFamily="34" charset="0"/>
              </a:rPr>
              <a:t>Es equivante a realizar EQUIJOIN entre los atributos de igual nombre y luego proyectar eliminando columnas con nombre repetido.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EQUIJOIN y NATURAL JOIN(2)</a:t>
            </a:r>
            <a:endParaRPr lang="es-ES" cap="none" smtClean="0">
              <a:latin typeface="Verdana" pitchFamily="34" charset="0"/>
            </a:endParaRPr>
          </a:p>
        </p:txBody>
      </p:sp>
      <p:sp>
        <p:nvSpPr>
          <p:cNvPr id="4505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457200" y="1600200"/>
            <a:ext cx="7499350" cy="4873625"/>
          </a:xfrm>
        </p:spPr>
        <p:txBody>
          <a:bodyPr/>
          <a:lstStyle/>
          <a:p>
            <a:pPr eaLnBrk="1" hangingPunct="1"/>
            <a:r>
              <a:rPr lang="es-ES" smtClean="0">
                <a:latin typeface="Verdana" pitchFamily="34" charset="0"/>
              </a:rPr>
              <a:t>Ejemplos</a:t>
            </a:r>
          </a:p>
          <a:p>
            <a:pPr eaLnBrk="1" hangingPunct="1"/>
            <a:endParaRPr lang="es-ES" smtClean="0">
              <a:latin typeface="Verdana" pitchFamily="34" charset="0"/>
            </a:endParaRPr>
          </a:p>
          <a:p>
            <a:pPr lvl="1" eaLnBrk="1" hangingPunct="1"/>
            <a:r>
              <a:rPr lang="es-ES" sz="2400" smtClean="0">
                <a:latin typeface="Verdana" pitchFamily="34" charset="0"/>
              </a:rPr>
              <a:t>Dar los nombres de los fabricantes y la descripción de los productos que vende:</a:t>
            </a:r>
          </a:p>
          <a:p>
            <a:pPr lvl="1" eaLnBrk="1" hangingPunct="1"/>
            <a:endParaRPr lang="es-ES" sz="2400" smtClean="0">
              <a:latin typeface="Verdana" pitchFamily="34" charset="0"/>
            </a:endParaRPr>
          </a:p>
          <a:p>
            <a:pPr lvl="1" eaLnBrk="1" hangingPunct="1">
              <a:buFont typeface="Wingdings 2" pitchFamily="18" charset="2"/>
              <a:buNone/>
            </a:pPr>
            <a:endParaRPr lang="es-ES" sz="2400" smtClean="0">
              <a:latin typeface="Verdana" pitchFamily="34" charset="0"/>
            </a:endParaRPr>
          </a:p>
          <a:p>
            <a:pPr lvl="1" eaLnBrk="1" hangingPunct="1"/>
            <a:endParaRPr lang="es-ES" sz="2400" smtClean="0">
              <a:latin typeface="Verdana" pitchFamily="34" charset="0"/>
            </a:endParaRPr>
          </a:p>
          <a:p>
            <a:pPr lvl="1" eaLnBrk="1" hangingPunct="1"/>
            <a:r>
              <a:rPr lang="es-ES" sz="2400" smtClean="0">
                <a:latin typeface="Verdana" pitchFamily="34" charset="0"/>
              </a:rPr>
              <a:t>Dar descripción y precio de productos vendidos por Juan:</a:t>
            </a:r>
          </a:p>
          <a:p>
            <a:pPr lvl="1" eaLnBrk="1" hangingPunct="1"/>
            <a:endParaRPr lang="es-ES" sz="2400" smtClean="0">
              <a:latin typeface="Verdana" pitchFamily="34" charset="0"/>
            </a:endParaRPr>
          </a:p>
          <a:p>
            <a:pPr lvl="1" eaLnBrk="1" hangingPunct="1"/>
            <a:endParaRPr lang="es-ES" sz="2400" smtClean="0">
              <a:latin typeface="Verdana" pitchFamily="34" charset="0"/>
            </a:endParaRPr>
          </a:p>
          <a:p>
            <a:pPr lvl="1" eaLnBrk="1" hangingPunct="1">
              <a:buFont typeface="Wingdings 2" pitchFamily="18" charset="2"/>
              <a:buNone/>
            </a:pPr>
            <a:endParaRPr lang="es-ES" sz="1900" smtClean="0"/>
          </a:p>
        </p:txBody>
      </p:sp>
      <p:pic>
        <p:nvPicPr>
          <p:cNvPr id="4505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75" y="5589588"/>
            <a:ext cx="5732463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0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6375" y="3357563"/>
            <a:ext cx="46958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CONJUNTO COMPLETO de OPERACIONES de Algebra Relacional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El conjunto de operaciones de algebra relacional {σ, π, U, ρ, –, x} es un </a:t>
            </a:r>
            <a:r>
              <a:rPr lang="en-US" b="1" smtClean="0">
                <a:latin typeface="Verdana" pitchFamily="34" charset="0"/>
              </a:rPr>
              <a:t>conjunto completo</a:t>
            </a:r>
          </a:p>
          <a:p>
            <a:pPr eaLnBrk="1" hangingPunct="1">
              <a:buFont typeface="Wingdings" pitchFamily="2" charset="2"/>
              <a:buNone/>
            </a:pPr>
            <a:endParaRPr lang="en-US" b="1" smtClean="0">
              <a:latin typeface="Verdana" pitchFamily="34" charset="0"/>
            </a:endParaRPr>
          </a:p>
          <a:p>
            <a:pPr lvl="1" eaLnBrk="1" hangingPunct="1"/>
            <a:r>
              <a:rPr lang="en-US" sz="2400" smtClean="0">
                <a:latin typeface="Verdana" pitchFamily="34" charset="0"/>
              </a:rPr>
              <a:t>Cualquier operación del algebra relacional puede ser expresada por una secuencia de operaciones de este conjunto.</a:t>
            </a:r>
          </a:p>
          <a:p>
            <a:pPr lvl="2" eaLnBrk="1" hangingPunct="1"/>
            <a:r>
              <a:rPr lang="en-US" sz="2400" smtClean="0">
                <a:latin typeface="Verdana" pitchFamily="34" charset="0"/>
              </a:rPr>
              <a:t>Ejemplos: intersección, join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DIVISION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Sean R y S dos relaciones con esquemas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Verdana" pitchFamily="34" charset="0"/>
              </a:rPr>
              <a:t>	</a:t>
            </a:r>
            <a:r>
              <a:rPr lang="en-US" sz="1800" b="1" smtClean="0">
                <a:latin typeface="Verdana" pitchFamily="34" charset="0"/>
              </a:rPr>
              <a:t>(A1,...,An,B1,...,Bm) y (B1,...,Bm)</a:t>
            </a:r>
            <a:r>
              <a:rPr lang="en-US" sz="1800" smtClean="0">
                <a:latin typeface="Verdana" pitchFamily="34" charset="0"/>
              </a:rPr>
              <a:t> respectivamente.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Verdana" pitchFamily="34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Verdana" pitchFamily="34" charset="0"/>
              </a:rPr>
              <a:t>	La operación </a:t>
            </a:r>
            <a:r>
              <a:rPr lang="en-US" b="1" smtClean="0">
                <a:latin typeface="Verdana" pitchFamily="34" charset="0"/>
              </a:rPr>
              <a:t>R ÷ S</a:t>
            </a:r>
            <a:r>
              <a:rPr lang="en-US" smtClean="0">
                <a:latin typeface="Verdana" pitchFamily="34" charset="0"/>
              </a:rPr>
              <a:t> da como resultado otra relacion con esquema </a:t>
            </a:r>
            <a:r>
              <a:rPr lang="en-US" sz="1800" b="1" smtClean="0">
                <a:latin typeface="Verdana" pitchFamily="34" charset="0"/>
              </a:rPr>
              <a:t>(A1,...,An)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Verdana" pitchFamily="34" charset="0"/>
              </a:rPr>
              <a:t>  y su contenido son: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Verdana" pitchFamily="34" charset="0"/>
            </a:endParaRPr>
          </a:p>
          <a:p>
            <a:pPr lvl="1" eaLnBrk="1" hangingPunct="1"/>
            <a:r>
              <a:rPr lang="en-US" smtClean="0">
                <a:latin typeface="Verdana" pitchFamily="34" charset="0"/>
              </a:rPr>
              <a:t>las tuplas tomadas a partir de las de r(R) tales que su valor (a1,...,an) esta asociado en r(R) con TODOS los valores (b1,...,bm) que estan en s(S).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68313" y="0"/>
            <a:ext cx="7456487" cy="1157288"/>
          </a:xfrm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DIVISION(2)</a:t>
            </a:r>
            <a:endParaRPr lang="es-ES" cap="none" smtClean="0">
              <a:latin typeface="Verdana" pitchFamily="34" charset="0"/>
            </a:endParaRPr>
          </a:p>
        </p:txBody>
      </p:sp>
      <p:sp>
        <p:nvSpPr>
          <p:cNvPr id="4813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smtClean="0">
                <a:latin typeface="Verdana" pitchFamily="34" charset="0"/>
              </a:rPr>
              <a:t>Por ejemplo: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Sean R y S, y </a:t>
            </a:r>
            <a:r>
              <a:rPr lang="es-ES" b="1" smtClean="0">
                <a:latin typeface="Verdana" pitchFamily="34" charset="0"/>
              </a:rPr>
              <a:t>Q = R </a:t>
            </a:r>
            <a:r>
              <a:rPr lang="en-US" b="1" smtClean="0">
                <a:latin typeface="Verdana" pitchFamily="34" charset="0"/>
              </a:rPr>
              <a:t>÷</a:t>
            </a:r>
            <a:r>
              <a:rPr lang="es-ES" b="1" smtClean="0">
                <a:latin typeface="Verdana" pitchFamily="34" charset="0"/>
              </a:rPr>
              <a:t> 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ES" smtClean="0">
              <a:latin typeface="Verdana" pitchFamily="34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R( A, B ) 	S( B ) 		Q( A 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a1 b1       b1 		==&gt;  a2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a1 b2       b2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a2 b1       b3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a2 b2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a2 b3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a2 b4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a3 b1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 a3 b3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DIVISION(3)</a:t>
            </a:r>
            <a:endParaRPr lang="es-ES" cap="none" smtClean="0">
              <a:latin typeface="Verdana" pitchFamily="34" charset="0"/>
            </a:endParaRPr>
          </a:p>
        </p:txBody>
      </p:sp>
      <p:sp>
        <p:nvSpPr>
          <p:cNvPr id="4915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smtClean="0">
                <a:latin typeface="Verdana" pitchFamily="34" charset="0"/>
              </a:rPr>
              <a:t>Observación: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Las tuplas solución deben estar relacionadas con todos los valores de S, pero NO se exige que lo este solo con esos valores. Pueden estar relacionadas con otros valores.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>
              <a:latin typeface="Verdana" pitchFamily="34" charset="0"/>
            </a:endParaRPr>
          </a:p>
          <a:p>
            <a:pPr eaLnBrk="1" hangingPunct="1"/>
            <a:r>
              <a:rPr lang="es-ES" smtClean="0">
                <a:latin typeface="Verdana" pitchFamily="34" charset="0"/>
              </a:rPr>
              <a:t>Ejemplo: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Dar los #p vendidos por todos los fabricantes.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/>
          </a:p>
        </p:txBody>
      </p:sp>
      <p:pic>
        <p:nvPicPr>
          <p:cNvPr id="4915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5373688"/>
            <a:ext cx="5545137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DIVISION(4)</a:t>
            </a:r>
            <a:endParaRPr lang="es-ES" cap="none" smtClean="0">
              <a:latin typeface="Verdana" pitchFamily="34" charset="0"/>
            </a:endParaRPr>
          </a:p>
        </p:txBody>
      </p:sp>
      <p:sp>
        <p:nvSpPr>
          <p:cNvPr id="5017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smtClean="0">
                <a:latin typeface="Verdana" pitchFamily="34" charset="0"/>
              </a:rPr>
              <a:t>Ejemplo 2: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Dar los #p vendidos por todos los fabricantes que venden algún producto. 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>
              <a:latin typeface="Verdana" pitchFamily="34" charset="0"/>
            </a:endParaRPr>
          </a:p>
          <a:p>
            <a:pPr eaLnBrk="1" hangingPunct="1"/>
            <a:endParaRPr lang="es-ES" smtClean="0">
              <a:latin typeface="Verdana" pitchFamily="34" charset="0"/>
            </a:endParaRPr>
          </a:p>
          <a:p>
            <a:pPr eaLnBrk="1" hangingPunct="1"/>
            <a:r>
              <a:rPr lang="es-ES" smtClean="0">
                <a:latin typeface="Verdana" pitchFamily="34" charset="0"/>
              </a:rPr>
              <a:t>Ejemplo 3: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	Dar los #f que venden todos los productos vendidos por algún fabricante.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>
              <a:latin typeface="Verdana" pitchFamily="34" charset="0"/>
            </a:endParaRPr>
          </a:p>
        </p:txBody>
      </p:sp>
      <p:pic>
        <p:nvPicPr>
          <p:cNvPr id="5017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4075" y="3068638"/>
            <a:ext cx="396081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24075" y="5373688"/>
            <a:ext cx="38877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DIVISION(5)</a:t>
            </a:r>
            <a:endParaRPr lang="es-ES" cap="none" smtClean="0">
              <a:latin typeface="Verdana" pitchFamily="34" charset="0"/>
            </a:endParaRPr>
          </a:p>
        </p:txBody>
      </p:sp>
      <p:sp>
        <p:nvSpPr>
          <p:cNvPr id="51202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smtClean="0">
                <a:latin typeface="Verdana" pitchFamily="34" charset="0"/>
              </a:rPr>
              <a:t>Ejemplo 3: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latin typeface="Verdana" pitchFamily="34" charset="0"/>
              </a:rPr>
              <a:t>  Dar los #f que venden todos los productos con descripción "t1".</a:t>
            </a:r>
          </a:p>
          <a:p>
            <a:pPr eaLnBrk="1" hangingPunct="1"/>
            <a:endParaRPr lang="es-ES" smtClean="0">
              <a:latin typeface="Verdana" pitchFamily="34" charset="0"/>
            </a:endParaRPr>
          </a:p>
          <a:p>
            <a:pPr eaLnBrk="1" hangingPunct="1"/>
            <a:endParaRPr lang="es-ES" smtClean="0">
              <a:latin typeface="Verdana" pitchFamily="34" charset="0"/>
            </a:endParaRPr>
          </a:p>
          <a:p>
            <a:pPr eaLnBrk="1" hangingPunct="1"/>
            <a:r>
              <a:rPr lang="es-ES" smtClean="0">
                <a:latin typeface="Verdana" pitchFamily="34" charset="0"/>
              </a:rPr>
              <a:t>Ejemplo 4:</a:t>
            </a:r>
          </a:p>
          <a:p>
            <a:pPr eaLnBrk="1" hangingPunct="1"/>
            <a:r>
              <a:rPr lang="es-ES" smtClean="0">
                <a:latin typeface="Verdana" pitchFamily="34" charset="0"/>
              </a:rPr>
              <a:t>Dar nombre y dirección de fabricantes que venden todos los productos con descripción "t1".</a:t>
            </a:r>
          </a:p>
        </p:txBody>
      </p:sp>
      <p:pic>
        <p:nvPicPr>
          <p:cNvPr id="5120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9613" y="3141663"/>
            <a:ext cx="4681537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5150" y="5516563"/>
            <a:ext cx="2592388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333375"/>
            <a:ext cx="7467600" cy="1143000"/>
          </a:xfrm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Operación DIVISION(6)</a:t>
            </a:r>
            <a:endParaRPr lang="es-ES" cap="none" smtClean="0">
              <a:latin typeface="Verdana" pitchFamily="34" charset="0"/>
            </a:endParaRPr>
          </a:p>
        </p:txBody>
      </p:sp>
      <p:sp>
        <p:nvSpPr>
          <p:cNvPr id="5222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smtClean="0">
                <a:latin typeface="Verdana" pitchFamily="34" charset="0"/>
              </a:rPr>
              <a:t>La división en función de operadores base.</a:t>
            </a:r>
          </a:p>
          <a:p>
            <a:pPr eaLnBrk="1" hangingPunct="1"/>
            <a:endParaRPr lang="es-ES" smtClean="0">
              <a:latin typeface="Verdana" pitchFamily="34" charset="0"/>
            </a:endParaRPr>
          </a:p>
          <a:p>
            <a:pPr eaLnBrk="1" hangingPunct="1"/>
            <a:endParaRPr lang="es-ES" smtClean="0">
              <a:latin typeface="Verdana" pitchFamily="34" charset="0"/>
            </a:endParaRPr>
          </a:p>
          <a:p>
            <a:pPr lvl="1" eaLnBrk="1" hangingPunct="1"/>
            <a:r>
              <a:rPr lang="es-ES" sz="1800" smtClean="0">
                <a:latin typeface="Verdana" pitchFamily="34" charset="0"/>
              </a:rPr>
              <a:t>Valores base a incluir en el resultado:</a:t>
            </a:r>
          </a:p>
          <a:p>
            <a:pPr lvl="1" eaLnBrk="1" hangingPunct="1">
              <a:buFont typeface="Wingdings 2" pitchFamily="18" charset="2"/>
              <a:buNone/>
            </a:pPr>
            <a:endParaRPr lang="es-ES" sz="1800" smtClean="0">
              <a:latin typeface="Verdana" pitchFamily="34" charset="0"/>
            </a:endParaRPr>
          </a:p>
          <a:p>
            <a:pPr lvl="1" eaLnBrk="1" hangingPunct="1"/>
            <a:r>
              <a:rPr lang="es-ES" sz="1800" smtClean="0">
                <a:latin typeface="Verdana" pitchFamily="34" charset="0"/>
              </a:rPr>
              <a:t>Tuplas de R a las que les falta relacionarse con algún elemento de S.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z="1800" smtClean="0">
                <a:latin typeface="Verdana" pitchFamily="34" charset="0"/>
              </a:rPr>
              <a:t>   	    Lo que NO se quiere en el resultado:</a:t>
            </a:r>
          </a:p>
          <a:p>
            <a:pPr eaLnBrk="1" hangingPunct="1">
              <a:buFont typeface="Wingdings" pitchFamily="2" charset="2"/>
              <a:buNone/>
            </a:pPr>
            <a:endParaRPr lang="es-ES" sz="1800" smtClean="0">
              <a:latin typeface="Verdana" pitchFamily="34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s-ES" sz="1800" smtClean="0">
              <a:latin typeface="Verdana" pitchFamily="34" charset="0"/>
            </a:endParaRPr>
          </a:p>
        </p:txBody>
      </p:sp>
      <p:pic>
        <p:nvPicPr>
          <p:cNvPr id="5222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9613" y="2133600"/>
            <a:ext cx="22320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51500" y="4221163"/>
            <a:ext cx="25193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6013" y="5084763"/>
            <a:ext cx="2016125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5963" y="2924175"/>
            <a:ext cx="144145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4"/>
          <p:cNvSpPr>
            <a:spLocks noGrp="1"/>
          </p:cNvSpPr>
          <p:nvPr>
            <p:ph type="title" idx="4294967295"/>
          </p:nvPr>
        </p:nvSpPr>
        <p:spPr bwMode="auto">
          <a:xfrm>
            <a:off x="228600" y="273050"/>
            <a:ext cx="8228013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DE ALGEBRA RELACIONAL</a:t>
            </a:r>
            <a:br>
              <a:rPr lang="en-US" cap="none" smtClean="0">
                <a:latin typeface="Verdana" pitchFamily="34" charset="0"/>
              </a:rPr>
            </a:br>
            <a:r>
              <a:rPr lang="en-US" cap="none" smtClean="0">
                <a:latin typeface="Verdana" pitchFamily="34" charset="0"/>
              </a:rPr>
              <a:t>Resumen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" y="1600200"/>
            <a:ext cx="836295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4"/>
          <p:cNvSpPr>
            <a:spLocks noGrp="1"/>
          </p:cNvSpPr>
          <p:nvPr>
            <p:ph type="title" idx="4294967295"/>
          </p:nvPr>
        </p:nvSpPr>
        <p:spPr bwMode="auto">
          <a:xfrm>
            <a:off x="179388" y="260350"/>
            <a:ext cx="8137525" cy="1157288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DE ALGEBRA RELACIONAL</a:t>
            </a:r>
            <a:br>
              <a:rPr lang="en-US" cap="none" smtClean="0">
                <a:latin typeface="Verdana" pitchFamily="34" charset="0"/>
              </a:rPr>
            </a:br>
            <a:r>
              <a:rPr lang="en-US" cap="none" smtClean="0">
                <a:latin typeface="Verdana" pitchFamily="34" charset="0"/>
              </a:rPr>
              <a:t>Resumen(2)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438400"/>
            <a:ext cx="805815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3"/>
          <a:srcRect r="7385"/>
          <a:stretch>
            <a:fillRect/>
          </a:stretch>
        </p:blipFill>
        <p:spPr bwMode="auto">
          <a:xfrm>
            <a:off x="381000" y="1981200"/>
            <a:ext cx="7991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825" y="1125538"/>
            <a:ext cx="8215313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298" name="Title 1"/>
          <p:cNvSpPr>
            <a:spLocks/>
          </p:cNvSpPr>
          <p:nvPr/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sz="3000">
                <a:solidFill>
                  <a:schemeClr val="tx2"/>
                </a:solidFill>
              </a:rPr>
              <a:t>ARBOL DE CONSULTA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RECURSIVAS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Operaciones aplicadas a relaciones recursivas entre tuplas del mismo tipo.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Empleados directamente supervidados por James Borg</a:t>
            </a:r>
          </a:p>
          <a:p>
            <a:pPr eaLnBrk="1" hangingPunct="1">
              <a:buClr>
                <a:srgbClr val="800000"/>
              </a:buClr>
              <a:buFont typeface="Wingdings" pitchFamily="2" charset="2"/>
              <a:buChar char="§"/>
            </a:pPr>
            <a:endParaRPr lang="en-US" smtClean="0">
              <a:latin typeface="Verdana" pitchFamily="34" charset="0"/>
            </a:endParaRPr>
          </a:p>
        </p:txBody>
      </p:sp>
      <p:pic>
        <p:nvPicPr>
          <p:cNvPr id="5632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3933825"/>
            <a:ext cx="68484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Operaciones OUTER JOIN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b="1" smtClean="0">
                <a:latin typeface="Verdana" pitchFamily="34" charset="0"/>
              </a:rPr>
              <a:t>Outer joins</a:t>
            </a:r>
          </a:p>
          <a:p>
            <a:pPr lvl="1" eaLnBrk="1" hangingPunct="1"/>
            <a:r>
              <a:rPr lang="en-US" smtClean="0">
                <a:latin typeface="Verdana" pitchFamily="34" charset="0"/>
              </a:rPr>
              <a:t>Mantiene todas las tuplas en R, o todas las de S, o todas las de ambas independientemente si matchean las tuplas de una relación con las de la otra.</a:t>
            </a:r>
          </a:p>
          <a:p>
            <a:pPr lvl="1" eaLnBrk="1" hangingPunct="1"/>
            <a:r>
              <a:rPr lang="en-US" b="1" smtClean="0">
                <a:latin typeface="Verdana" pitchFamily="34" charset="0"/>
              </a:rPr>
              <a:t>Types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b="1" smtClean="0">
                <a:latin typeface="Verdana" pitchFamily="34" charset="0"/>
              </a:rPr>
              <a:t>LEFT OUTER JOIN, RIGHT OUTER JOIN, FULL OUTER JOIN</a:t>
            </a:r>
          </a:p>
          <a:p>
            <a:pPr lvl="1" eaLnBrk="1" hangingPunct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>
                <a:latin typeface="Verdana" pitchFamily="34" charset="0"/>
              </a:rPr>
              <a:t>Example:</a:t>
            </a:r>
          </a:p>
        </p:txBody>
      </p:sp>
      <p:pic>
        <p:nvPicPr>
          <p:cNvPr id="5734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6648450"/>
            <a:ext cx="28575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250" y="4797425"/>
            <a:ext cx="489426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EJEMPLOS de consultas en ALGEBRA RELACIONAL</a:t>
            </a: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74183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2514600"/>
            <a:ext cx="736123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5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EJEMPLOS de consultas en ALGEBRA RELACIONAL(2)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76400"/>
            <a:ext cx="7366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810000"/>
            <a:ext cx="73787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5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cap="none" smtClean="0">
                <a:latin typeface="Verdana" pitchFamily="34" charset="0"/>
              </a:rPr>
              <a:t>EJEMPLOS de consultas en ALGEBRA RELACIONAL(3)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76400"/>
            <a:ext cx="733583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962400"/>
            <a:ext cx="714692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irador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334</TotalTime>
  <Words>998</Words>
  <Application>Microsoft Office PowerPoint</Application>
  <PresentationFormat>Presentación en pantalla (4:3)</PresentationFormat>
  <Paragraphs>216</Paragraphs>
  <Slides>31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3" baseType="lpstr">
      <vt:lpstr>Mirador</vt:lpstr>
      <vt:lpstr>Ecuación</vt:lpstr>
      <vt:lpstr>Bases de datos 1</vt:lpstr>
      <vt:lpstr>ALGEBRA RELACIONAL</vt:lpstr>
      <vt:lpstr>Operaciones unarias: SELECCIÓN Y PROYECCIÓN</vt:lpstr>
      <vt:lpstr>Operaciones unarias  SELECCIÓN  y PROYECCIÓN (2)</vt:lpstr>
      <vt:lpstr>Operación PROYECCIÓN</vt:lpstr>
      <vt:lpstr>SECUENCIAS Y RENOMBRE  de operaciones</vt:lpstr>
      <vt:lpstr>OPERACIONES sobre TEORIA DE CONJUNTOS</vt:lpstr>
      <vt:lpstr>OPERACIONES sobre TEORIA DE CONJUNTOS(2)</vt:lpstr>
      <vt:lpstr>OPERACIONES sobre TEORIA DE CONJUNTOS(3)</vt:lpstr>
      <vt:lpstr>Operación PRODUCTO CARTESIANO</vt:lpstr>
      <vt:lpstr>Operación PRODUCTO CARTESIANO(2)</vt:lpstr>
      <vt:lpstr>Operación PRODUCTO CARTESIANO(3)</vt:lpstr>
      <vt:lpstr> JOIN y DIVISION</vt:lpstr>
      <vt:lpstr>JOIN y DIVISION(2)</vt:lpstr>
      <vt:lpstr>EQUIJOIN y NATURAL JOIN</vt:lpstr>
      <vt:lpstr>EQUIJOIN y NATURAL JOIN(2)</vt:lpstr>
      <vt:lpstr>CONJUNTO COMPLETO de OPERACIONES de Algebra Relacional</vt:lpstr>
      <vt:lpstr>Operación DIVISION</vt:lpstr>
      <vt:lpstr>Operación DIVISION(2)</vt:lpstr>
      <vt:lpstr>Operación DIVISION(3)</vt:lpstr>
      <vt:lpstr>Operación DIVISION(4)</vt:lpstr>
      <vt:lpstr>Operación DIVISION(5)</vt:lpstr>
      <vt:lpstr>Operación DIVISION(6)</vt:lpstr>
      <vt:lpstr>OPERACIONES DE ALGEBRA RELACIONAL Resumen</vt:lpstr>
      <vt:lpstr>OPERACIONES DE ALGEBRA RELACIONAL Resumen(2)</vt:lpstr>
      <vt:lpstr>Presentación de PowerPoint</vt:lpstr>
      <vt:lpstr>Operaciones RECURSIVAS</vt:lpstr>
      <vt:lpstr>Operaciones OUTER JOIN</vt:lpstr>
      <vt:lpstr>EJEMPLOS de consultas en ALGEBRA RELACIONAL</vt:lpstr>
      <vt:lpstr>EJEMPLOS de consultas en ALGEBRA RELACIONAL(2)</vt:lpstr>
      <vt:lpstr>EJEMPLOS de consultas en ALGEBRA RELACIONAL(3)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1</dc:title>
  <dc:creator>Administrador</dc:creator>
  <cp:lastModifiedBy>Admin</cp:lastModifiedBy>
  <cp:revision>27</cp:revision>
  <dcterms:created xsi:type="dcterms:W3CDTF">2012-03-09T21:03:51Z</dcterms:created>
  <dcterms:modified xsi:type="dcterms:W3CDTF">2012-08-09T05:18:56Z</dcterms:modified>
</cp:coreProperties>
</file>