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16" r:id="rId1"/>
  </p:sldMasterIdLst>
  <p:notesMasterIdLst>
    <p:notesMasterId r:id="rId28"/>
  </p:notesMasterIdLst>
  <p:sldIdLst>
    <p:sldId id="256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</p:sldIdLst>
  <p:sldSz cx="9144000" cy="6858000" type="screen4x3"/>
  <p:notesSz cx="6858000" cy="9144000"/>
  <p:defaultTextStyle>
    <a:defPPr>
      <a:defRPr lang="es-UY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fld id="{8ACC79C5-1830-42E9-B3E5-684333608710}" type="datetimeFigureOut">
              <a:rPr lang="es-ES"/>
              <a:pPr>
                <a:defRPr/>
              </a:pPr>
              <a:t>09/08/2012</a:t>
            </a:fld>
            <a:endParaRPr lang="es-E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entury Schoolbook" pitchFamily="18" charset="0"/>
              </a:defRPr>
            </a:lvl1pPr>
          </a:lstStyle>
          <a:p>
            <a:pPr>
              <a:defRPr/>
            </a:pPr>
            <a:fld id="{D8DBAF64-43F6-49F8-B019-EE750368FE5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6015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ES">
              <a:latin typeface="Arial" charset="0"/>
              <a:cs typeface="Arial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body"/>
          </p:nvPr>
        </p:nvSpPr>
        <p:spPr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11 Rectángulo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13 Rectángulo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18 Rectángulo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10 Conector recto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9 Conector recto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15 Conector recto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5" name="21 Conector recto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6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22 Elipse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23 Elipse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25 Elipse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24 Elipse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22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E1A5B-0C54-4A98-9DF8-AB99054A40CF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23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24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0852D-1921-496D-842F-0805B3844F28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D263FC2-D53A-40BE-A3B9-C006493267E3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8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47B099D-6676-46FD-9DAF-47E0B7D5D3E1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6" name="9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9 Rectángulo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10 Rectángulo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11 Rectángulo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12 Conector recto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14 Conector recto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5 Conector recto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19 Elipse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20 Elipse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21 Elipse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22 Elipse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25 Conector recto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519E9-EAF7-4B6A-9F94-1115CFACA069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21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22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AC260-260C-4D7A-B057-CF0725DEE69A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945AA-F9B0-4EBD-B4B8-435159FD0322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8615E-778A-47E4-A126-C2A0A8509D9B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CE427-E3CA-44C3-9E26-1FF54A508E2F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9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BF4A8-BD79-48A5-B395-3E0190052F18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62D086E-BA3B-40CA-9F16-FCBAE37320DB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4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B64FBEE-5CDD-4DC5-8044-F208A742B72B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5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BA70E-E45E-4BFD-A2ED-7CBBE67655DB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4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39F94-75A5-48B5-8EE9-1FB11C4356D5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8 Conector recto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13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2" name="20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50FCB03-B7D1-4700-84B0-07B12A3D6150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13" name="21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8EA9B74-01D5-4A12-9C21-6DEE724B80E8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14" name="22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12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1" name="19 Conector recto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C87ABA8-4CE3-47F9-A060-B3138630075F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13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B609803-EB65-4261-A871-139842E81325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  <p:sp>
        <p:nvSpPr>
          <p:cNvPr id="14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09255-1F36-47A1-A6E6-F66A5E607E79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EEB19-723D-4759-9423-6D87A25BD2EB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A3B7C-2275-4F01-A8B3-832AEE126D81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1894B-9781-4867-9802-405C82BD5A31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1028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smtClean="0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67870127-AF14-4B0D-BD4D-87947B789D66}" type="datetimeFigureOut">
              <a:rPr lang="es-UY"/>
              <a:pPr>
                <a:defRPr/>
              </a:pPr>
              <a:t>09/08/2012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AB31FF8D-9092-44B7-BA40-44022B3417B3}" type="slidenum">
              <a:rPr lang="es-UY"/>
              <a:pPr>
                <a:defRPr/>
              </a:pPr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27" r:id="rId4"/>
    <p:sldLayoutId id="2147484726" r:id="rId5"/>
    <p:sldLayoutId id="2147484731" r:id="rId6"/>
    <p:sldLayoutId id="2147484725" r:id="rId7"/>
    <p:sldLayoutId id="2147484732" r:id="rId8"/>
    <p:sldLayoutId id="2147484733" r:id="rId9"/>
    <p:sldLayoutId id="2147484724" r:id="rId10"/>
    <p:sldLayoutId id="21474847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UY" dirty="0" smtClean="0"/>
              <a:t>Bases </a:t>
            </a:r>
            <a:r>
              <a:rPr lang="es-UY" smtClean="0"/>
              <a:t>de </a:t>
            </a:r>
            <a:r>
              <a:rPr lang="es-UY" smtClean="0"/>
              <a:t>datos </a:t>
            </a:r>
            <a:r>
              <a:rPr lang="es-UY" dirty="0" smtClean="0"/>
              <a:t>1</a:t>
            </a:r>
            <a:endParaRPr lang="es-UY" dirty="0"/>
          </a:p>
        </p:txBody>
      </p:sp>
      <p:sp>
        <p:nvSpPr>
          <p:cNvPr id="14338" name="2 Subtítulo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r>
              <a:rPr lang="es-UY" smtClean="0"/>
              <a:t>Teórico: Modelo Relacional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>
                <a:latin typeface="Verdana" pitchFamily="34" charset="0"/>
              </a:rPr>
              <a:t>MODELO de DATOS RELACIONAL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Conceptos del modelo relacional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Restricciones del </a:t>
            </a:r>
            <a:r>
              <a:rPr lang="es-ES_tradnl" smtClean="0">
                <a:latin typeface="Verdana" pitchFamily="34" charset="0"/>
              </a:rPr>
              <a:t>modelo</a:t>
            </a:r>
            <a:r>
              <a:rPr lang="en-US" smtClean="0">
                <a:latin typeface="Verdana" pitchFamily="34" charset="0"/>
              </a:rPr>
              <a:t> relacional y esquemas de base de datos</a:t>
            </a:r>
          </a:p>
          <a:p>
            <a:pPr eaLnBrk="1" hangingPunct="1"/>
            <a:r>
              <a:rPr lang="en-US" smtClean="0">
                <a:latin typeface="Verdana" pitchFamily="34" charset="0"/>
              </a:rPr>
              <a:t>Operaciones de creación y modificación de relaciones.</a:t>
            </a: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Referencia: Fundamental of Database Systems 6ta edición (E-N). Capítulo 3.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endParaRPr lang="en-US" smtClean="0">
              <a:latin typeface="Verdan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458788" y="260350"/>
            <a:ext cx="8685212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>
                <a:latin typeface="Verdana" pitchFamily="34" charset="0"/>
              </a:rPr>
              <a:t>MODELO de DATOS RELACIONAL(2)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 eaLnBrk="1" hangingPunct="1"/>
            <a:r>
              <a:rPr lang="en-US" smtClean="0">
                <a:latin typeface="Verdana" pitchFamily="34" charset="0"/>
              </a:rPr>
              <a:t>Modelo Relacional</a:t>
            </a:r>
          </a:p>
          <a:p>
            <a:pPr lvl="1" eaLnBrk="1" hangingPunct="1"/>
            <a:r>
              <a:rPr lang="en-US" smtClean="0">
                <a:latin typeface="Verdana" pitchFamily="34" charset="0"/>
              </a:rPr>
              <a:t>Las primeras implementaciones comerciales estuvieron disponibles a principios de los 1980s</a:t>
            </a:r>
          </a:p>
          <a:p>
            <a:pPr lvl="1" eaLnBrk="1" hangingPunct="1"/>
            <a:endParaRPr lang="en-US" smtClean="0">
              <a:latin typeface="Verdana" pitchFamily="34" charset="0"/>
            </a:endParaRPr>
          </a:p>
          <a:p>
            <a:pPr eaLnBrk="1" hangingPunct="1"/>
            <a:r>
              <a:rPr lang="en-US" smtClean="0">
                <a:latin typeface="Verdana" pitchFamily="34" charset="0"/>
              </a:rPr>
              <a:t>Ejemplos de Motores de base de datos relacionales: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>
                <a:latin typeface="Verdana" pitchFamily="34" charset="0"/>
              </a:rPr>
              <a:t>DB2 e Informix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>
                <a:latin typeface="Verdana" pitchFamily="34" charset="0"/>
              </a:rPr>
              <a:t>Oracle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>
                <a:latin typeface="Verdana" pitchFamily="34" charset="0"/>
              </a:rPr>
              <a:t>SQL Server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>
                <a:latin typeface="Verdana" pitchFamily="34" charset="0"/>
              </a:rPr>
              <a:t>MySql,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28600" y="273050"/>
            <a:ext cx="84566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>
                <a:latin typeface="Verdana" pitchFamily="34" charset="0"/>
              </a:rPr>
              <a:t> Conceptos del MODELO RELACIONAL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Los datos se representan como una colección de relaciones 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Cada relación se asemeja a una tabla de valores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Tabla de valores</a:t>
            </a:r>
            <a:endParaRPr lang="en-US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Filas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Representa una colección de datos relacionada.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Corresponde a una entidad o relación del mundo real.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Tupla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Nombre de las tablas y nombre de las columnas 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Se usan para interpretar el significado de los valores en cada registro o tupla</a:t>
            </a:r>
            <a:endParaRPr lang="en-US" i="1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Conceptos de Modelo Relacional</a:t>
            </a:r>
          </a:p>
        </p:txBody>
      </p:sp>
      <p:pic>
        <p:nvPicPr>
          <p:cNvPr id="7168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28800"/>
            <a:ext cx="82296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Dominios, Atributos,Tuplas, y Relaciones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Dominio</a:t>
            </a:r>
            <a:r>
              <a:rPr lang="en-US" smtClean="0"/>
              <a:t> D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Conjunto de valores atómicos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Atómico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Cada valor es indivisible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Especificar un dominio</a:t>
            </a:r>
            <a:r>
              <a:rPr lang="en-US" smtClean="0"/>
              <a:t>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Se definen</a:t>
            </a:r>
            <a:r>
              <a:rPr lang="en-US" b="1" smtClean="0"/>
              <a:t> data types </a:t>
            </a:r>
            <a:r>
              <a:rPr lang="en-US" smtClean="0"/>
              <a:t>para cada dominio: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Ejemplo: Edad de una persona: Entero entre 0 y 115 años.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Dominios, Atributos,Tuplas, y Relaciones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Esquema de relación </a:t>
            </a:r>
            <a:r>
              <a:rPr lang="en-US" i="1" smtClean="0"/>
              <a:t>R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Denotado por </a:t>
            </a:r>
            <a:r>
              <a:rPr lang="en-US" i="1" smtClean="0"/>
              <a:t>R</a:t>
            </a:r>
            <a:r>
              <a:rPr lang="en-US" smtClean="0"/>
              <a:t>(</a:t>
            </a:r>
            <a:r>
              <a:rPr lang="en-US" i="1" smtClean="0"/>
              <a:t>A</a:t>
            </a:r>
            <a:r>
              <a:rPr lang="en-US" baseline="-25000" smtClean="0"/>
              <a:t>1</a:t>
            </a:r>
            <a:r>
              <a:rPr lang="en-US" smtClean="0"/>
              <a:t>,</a:t>
            </a:r>
            <a:r>
              <a:rPr lang="en-US" i="1" smtClean="0"/>
              <a:t> A</a:t>
            </a:r>
            <a:r>
              <a:rPr lang="en-US" baseline="-25000" smtClean="0"/>
              <a:t>2</a:t>
            </a:r>
            <a:r>
              <a:rPr lang="en-US" smtClean="0"/>
              <a:t>, ...,</a:t>
            </a:r>
            <a:r>
              <a:rPr lang="en-US" i="1" smtClean="0"/>
              <a:t>A</a:t>
            </a:r>
            <a:r>
              <a:rPr lang="en-US" i="1" baseline="-25000" smtClean="0"/>
              <a:t>n</a:t>
            </a:r>
            <a:r>
              <a:rPr lang="en-US" smtClean="0"/>
              <a:t>)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i="1" smtClean="0"/>
              <a:t>R</a:t>
            </a:r>
            <a:r>
              <a:rPr lang="en-US" smtClean="0"/>
              <a:t> es el nombre de la relación y </a:t>
            </a:r>
            <a:r>
              <a:rPr lang="en-US" i="1" smtClean="0"/>
              <a:t>A</a:t>
            </a:r>
            <a:r>
              <a:rPr lang="en-US" baseline="-25000" smtClean="0"/>
              <a:t>1</a:t>
            </a:r>
            <a:r>
              <a:rPr lang="en-US" smtClean="0"/>
              <a:t>,</a:t>
            </a:r>
            <a:r>
              <a:rPr lang="en-US" i="1" smtClean="0"/>
              <a:t> A</a:t>
            </a:r>
            <a:r>
              <a:rPr lang="en-US" baseline="-25000" smtClean="0"/>
              <a:t>2</a:t>
            </a:r>
            <a:r>
              <a:rPr lang="en-US" smtClean="0"/>
              <a:t>,</a:t>
            </a:r>
            <a:r>
              <a:rPr lang="en-US" i="1" smtClean="0"/>
              <a:t> ..., A</a:t>
            </a:r>
            <a:r>
              <a:rPr lang="en-US" i="1" baseline="-25000" smtClean="0"/>
              <a:t>n </a:t>
            </a:r>
            <a:r>
              <a:rPr lang="en-US" smtClean="0"/>
              <a:t>sus atributos con dominios </a:t>
            </a:r>
            <a:r>
              <a:rPr lang="en-US" i="1" smtClean="0"/>
              <a:t>D</a:t>
            </a:r>
            <a:r>
              <a:rPr lang="en-US" baseline="-25000" smtClean="0"/>
              <a:t>1, </a:t>
            </a:r>
            <a:r>
              <a:rPr lang="en-US" i="1" smtClean="0"/>
              <a:t>D</a:t>
            </a:r>
            <a:r>
              <a:rPr lang="en-US" baseline="-25000" smtClean="0"/>
              <a:t>2 </a:t>
            </a:r>
            <a:r>
              <a:rPr lang="en-US" i="1" smtClean="0"/>
              <a:t>,…, D</a:t>
            </a:r>
            <a:r>
              <a:rPr lang="en-US" baseline="-25000" smtClean="0"/>
              <a:t>n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Relación </a:t>
            </a:r>
            <a:r>
              <a:rPr lang="en-US" smtClean="0"/>
              <a:t>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Conjunto de </a:t>
            </a:r>
            <a:r>
              <a:rPr lang="en-US" b="1" i="1" smtClean="0"/>
              <a:t>n</a:t>
            </a:r>
            <a:r>
              <a:rPr lang="en-US" b="1" smtClean="0"/>
              <a:t>-tuplas</a:t>
            </a:r>
            <a:r>
              <a:rPr lang="en-US" smtClean="0"/>
              <a:t> </a:t>
            </a:r>
            <a:r>
              <a:rPr lang="en-US" i="1" smtClean="0"/>
              <a:t>r = </a:t>
            </a:r>
            <a:r>
              <a:rPr lang="en-US" smtClean="0"/>
              <a:t>{</a:t>
            </a:r>
            <a:r>
              <a:rPr lang="en-US" i="1" smtClean="0"/>
              <a:t>t</a:t>
            </a:r>
            <a:r>
              <a:rPr lang="en-US" baseline="-25000" smtClean="0"/>
              <a:t>1</a:t>
            </a:r>
            <a:r>
              <a:rPr lang="en-US" smtClean="0"/>
              <a:t>,</a:t>
            </a:r>
            <a:r>
              <a:rPr lang="en-US" i="1" smtClean="0"/>
              <a:t> t</a:t>
            </a:r>
            <a:r>
              <a:rPr lang="en-US" i="1" baseline="-25000" smtClean="0"/>
              <a:t>2</a:t>
            </a:r>
            <a:r>
              <a:rPr lang="en-US" smtClean="0"/>
              <a:t>, ..., </a:t>
            </a:r>
            <a:r>
              <a:rPr lang="en-US" i="1" smtClean="0"/>
              <a:t>t</a:t>
            </a:r>
            <a:r>
              <a:rPr lang="en-US" i="1" baseline="-25000" smtClean="0"/>
              <a:t>m</a:t>
            </a:r>
            <a:r>
              <a:rPr lang="en-US" smtClean="0"/>
              <a:t>}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Cada </a:t>
            </a:r>
            <a:r>
              <a:rPr lang="en-US" i="1" smtClean="0"/>
              <a:t>n</a:t>
            </a:r>
            <a:r>
              <a:rPr lang="en-US" smtClean="0"/>
              <a:t>-tupla </a:t>
            </a:r>
            <a:r>
              <a:rPr lang="en-US" i="1" smtClean="0"/>
              <a:t>t</a:t>
            </a:r>
            <a:r>
              <a:rPr lang="en-US" smtClean="0"/>
              <a:t> 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Lista ordenada de </a:t>
            </a:r>
            <a:r>
              <a:rPr lang="en-US" i="1" smtClean="0"/>
              <a:t>n</a:t>
            </a:r>
            <a:r>
              <a:rPr lang="en-US" smtClean="0"/>
              <a:t> valores </a:t>
            </a:r>
            <a:r>
              <a:rPr lang="en-US" i="1" smtClean="0"/>
              <a:t>t =&lt;v</a:t>
            </a:r>
            <a:r>
              <a:rPr lang="en-US" baseline="-25000" smtClean="0"/>
              <a:t>1</a:t>
            </a:r>
            <a:r>
              <a:rPr lang="en-US" smtClean="0"/>
              <a:t>, </a:t>
            </a:r>
            <a:r>
              <a:rPr lang="en-US" i="1" smtClean="0"/>
              <a:t>v</a:t>
            </a:r>
            <a:r>
              <a:rPr lang="en-US" baseline="-25000" smtClean="0"/>
              <a:t>2</a:t>
            </a:r>
            <a:r>
              <a:rPr lang="en-US" smtClean="0"/>
              <a:t>, ..., </a:t>
            </a:r>
            <a:r>
              <a:rPr lang="en-US" i="1" smtClean="0"/>
              <a:t>v</a:t>
            </a:r>
            <a:r>
              <a:rPr lang="en-US" i="1" baseline="-25000" smtClean="0"/>
              <a:t>n</a:t>
            </a:r>
            <a:r>
              <a:rPr lang="en-US" i="1" smtClean="0"/>
              <a:t>&gt;</a:t>
            </a:r>
            <a:endParaRPr lang="en-US" i="1" baseline="-25000" smtClean="0"/>
          </a:p>
          <a:p>
            <a:pPr lvl="2">
              <a:buFont typeface="Arial" charset="0"/>
              <a:buChar char="•"/>
            </a:pPr>
            <a:r>
              <a:rPr lang="en-US" smtClean="0"/>
              <a:t>Cada valor </a:t>
            </a:r>
            <a:r>
              <a:rPr lang="en-US" i="1" smtClean="0"/>
              <a:t>v</a:t>
            </a:r>
            <a:r>
              <a:rPr lang="en-US" i="1" baseline="-25000" smtClean="0"/>
              <a:t>i</a:t>
            </a:r>
            <a:r>
              <a:rPr lang="en-US" smtClean="0"/>
              <a:t>, 1</a:t>
            </a:r>
            <a:r>
              <a:rPr lang="en-US" i="1" smtClean="0"/>
              <a:t> ≤ i ≤ n</a:t>
            </a:r>
            <a:r>
              <a:rPr lang="en-US" smtClean="0"/>
              <a:t>, es un elemento de dom(</a:t>
            </a:r>
            <a:r>
              <a:rPr lang="en-US" i="1" smtClean="0"/>
              <a:t>A</a:t>
            </a:r>
            <a:r>
              <a:rPr lang="en-US" i="1" baseline="-25000" smtClean="0"/>
              <a:t>i</a:t>
            </a:r>
            <a:r>
              <a:rPr lang="en-US" smtClean="0"/>
              <a:t>) o es un valor </a:t>
            </a:r>
            <a:r>
              <a:rPr lang="en-US" smtClean="0">
                <a:cs typeface="Courier New" pitchFamily="49" charset="0"/>
              </a:rPr>
              <a:t>NULL.</a:t>
            </a:r>
            <a:endParaRPr lang="en-US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endParaRPr lang="en-US" baseline="-25000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endParaRPr lang="en-US" i="1" baseline="-25000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endParaRPr lang="en-US" i="1" baseline="-2500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5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Dominios, Atributos,Tuplas, y Relaciones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Relación (o estado de relación) </a:t>
            </a:r>
            <a:r>
              <a:rPr lang="en-US" i="1" smtClean="0"/>
              <a:t>r</a:t>
            </a:r>
            <a:r>
              <a:rPr lang="en-US" smtClean="0"/>
              <a:t>(</a:t>
            </a:r>
            <a:r>
              <a:rPr lang="en-US" i="1" smtClean="0"/>
              <a:t>R</a:t>
            </a:r>
            <a:r>
              <a:rPr lang="en-US" smtClean="0"/>
              <a:t>)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Relación matemática </a:t>
            </a:r>
            <a:r>
              <a:rPr lang="en-US" smtClean="0"/>
              <a:t>de grado </a:t>
            </a:r>
            <a:r>
              <a:rPr lang="en-US" i="1" smtClean="0"/>
              <a:t>n</a:t>
            </a:r>
            <a:r>
              <a:rPr lang="en-US" smtClean="0"/>
              <a:t> sobre los dominios dom(</a:t>
            </a:r>
            <a:r>
              <a:rPr lang="en-US" i="1" smtClean="0"/>
              <a:t>A</a:t>
            </a:r>
            <a:r>
              <a:rPr lang="en-US" baseline="-25000" smtClean="0"/>
              <a:t>1</a:t>
            </a:r>
            <a:r>
              <a:rPr lang="en-US" smtClean="0"/>
              <a:t>), dom(</a:t>
            </a:r>
            <a:r>
              <a:rPr lang="en-US" i="1" smtClean="0"/>
              <a:t>A</a:t>
            </a:r>
            <a:r>
              <a:rPr lang="en-US" baseline="-25000" smtClean="0"/>
              <a:t>2</a:t>
            </a:r>
            <a:r>
              <a:rPr lang="en-US" smtClean="0"/>
              <a:t>), ..., dom(</a:t>
            </a:r>
            <a:r>
              <a:rPr lang="en-US" i="1" smtClean="0"/>
              <a:t>A</a:t>
            </a:r>
            <a:r>
              <a:rPr lang="en-US" i="1" baseline="-25000" smtClean="0"/>
              <a:t>n</a:t>
            </a:r>
            <a:r>
              <a:rPr lang="en-US" smtClean="0"/>
              <a:t>)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Subconjunto </a:t>
            </a:r>
            <a:r>
              <a:rPr lang="en-US" smtClean="0"/>
              <a:t>del </a:t>
            </a:r>
            <a:r>
              <a:rPr lang="en-US" b="1" smtClean="0"/>
              <a:t>Producto Cartesiano </a:t>
            </a:r>
            <a:r>
              <a:rPr lang="en-US" smtClean="0"/>
              <a:t>de los dominios que definen a R</a:t>
            </a:r>
          </a:p>
          <a:p>
            <a:pPr lvl="2">
              <a:buFont typeface="Arial" charset="0"/>
              <a:buChar char="•"/>
            </a:pPr>
            <a:r>
              <a:rPr lang="en-US" i="1" smtClean="0">
                <a:cs typeface="Courier New" pitchFamily="49" charset="0"/>
              </a:rPr>
              <a:t>r</a:t>
            </a:r>
            <a:r>
              <a:rPr lang="en-US" smtClean="0">
                <a:cs typeface="Courier New" pitchFamily="49" charset="0"/>
              </a:rPr>
              <a:t>(</a:t>
            </a:r>
            <a:r>
              <a:rPr lang="en-US" i="1" smtClean="0">
                <a:cs typeface="Courier New" pitchFamily="49" charset="0"/>
              </a:rPr>
              <a:t>R</a:t>
            </a:r>
            <a:r>
              <a:rPr lang="en-US" smtClean="0">
                <a:cs typeface="Courier New" pitchFamily="49" charset="0"/>
              </a:rPr>
              <a:t>)</a:t>
            </a:r>
            <a:r>
              <a:rPr lang="en-US" i="1" smtClean="0">
                <a:cs typeface="Courier New" pitchFamily="49" charset="0"/>
              </a:rPr>
              <a:t> </a:t>
            </a:r>
            <a:r>
              <a:rPr lang="en-US" smtClean="0">
                <a:latin typeface="Symbol" pitchFamily="18" charset="2"/>
              </a:rPr>
              <a:t>Í</a:t>
            </a:r>
            <a:r>
              <a:rPr lang="en-US" smtClean="0">
                <a:cs typeface="Courier New" pitchFamily="49" charset="0"/>
              </a:rPr>
              <a:t>(dom</a:t>
            </a:r>
            <a:r>
              <a:rPr lang="en-US" i="1" smtClean="0">
                <a:cs typeface="Courier New" pitchFamily="49" charset="0"/>
              </a:rPr>
              <a:t>(A</a:t>
            </a:r>
            <a:r>
              <a:rPr lang="en-US" baseline="-25000" smtClean="0">
                <a:cs typeface="Courier New" pitchFamily="49" charset="0"/>
              </a:rPr>
              <a:t>1</a:t>
            </a:r>
            <a:r>
              <a:rPr lang="en-US" smtClean="0">
                <a:cs typeface="Courier New" pitchFamily="49" charset="0"/>
              </a:rPr>
              <a:t>)</a:t>
            </a:r>
            <a:r>
              <a:rPr lang="en-US" i="1" smtClean="0">
                <a:cs typeface="Courier New" pitchFamily="49" charset="0"/>
              </a:rPr>
              <a:t> </a:t>
            </a:r>
            <a:r>
              <a:rPr lang="en-US" smtClean="0">
                <a:cs typeface="Courier New" pitchFamily="49" charset="0"/>
              </a:rPr>
              <a:t>×</a:t>
            </a:r>
            <a:r>
              <a:rPr lang="en-US" i="1" smtClean="0">
                <a:cs typeface="Courier New" pitchFamily="49" charset="0"/>
              </a:rPr>
              <a:t> </a:t>
            </a:r>
            <a:r>
              <a:rPr lang="en-US" smtClean="0">
                <a:cs typeface="Courier New" pitchFamily="49" charset="0"/>
              </a:rPr>
              <a:t>dom(</a:t>
            </a:r>
            <a:r>
              <a:rPr lang="en-US" i="1" smtClean="0">
                <a:cs typeface="Courier New" pitchFamily="49" charset="0"/>
              </a:rPr>
              <a:t>A</a:t>
            </a:r>
            <a:r>
              <a:rPr lang="en-US" baseline="-25000" smtClean="0">
                <a:cs typeface="Courier New" pitchFamily="49" charset="0"/>
              </a:rPr>
              <a:t>2</a:t>
            </a:r>
            <a:r>
              <a:rPr lang="en-US" smtClean="0">
                <a:cs typeface="Courier New" pitchFamily="49" charset="0"/>
              </a:rPr>
              <a:t>)</a:t>
            </a:r>
            <a:r>
              <a:rPr lang="en-US" i="1" smtClean="0">
                <a:cs typeface="Courier New" pitchFamily="49" charset="0"/>
              </a:rPr>
              <a:t> </a:t>
            </a:r>
            <a:r>
              <a:rPr lang="en-US" smtClean="0">
                <a:cs typeface="Courier New" pitchFamily="49" charset="0"/>
              </a:rPr>
              <a:t>× ... × dom(</a:t>
            </a:r>
            <a:r>
              <a:rPr lang="en-US" i="1" smtClean="0">
                <a:cs typeface="Courier New" pitchFamily="49" charset="0"/>
              </a:rPr>
              <a:t>A</a:t>
            </a:r>
            <a:r>
              <a:rPr lang="en-US" i="1" baseline="-25000" smtClean="0">
                <a:cs typeface="Courier New" pitchFamily="49" charset="0"/>
              </a:rPr>
              <a:t>n</a:t>
            </a:r>
            <a:r>
              <a:rPr lang="en-US" smtClean="0">
                <a:cs typeface="Courier New" pitchFamily="49" charset="0"/>
              </a:rPr>
              <a:t>))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0" y="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7" name="Ecuación" r:id="rId3" imgW="152268" imgH="152268" progId="Equation.3">
                  <p:embed/>
                </p:oleObj>
              </mc:Choice>
              <mc:Fallback>
                <p:oleObj name="Ecuación" r:id="rId3" imgW="152268" imgH="152268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0" y="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8" name="Ecuación" r:id="rId5" imgW="152268" imgH="152268" progId="Equation.3">
                  <p:embed/>
                </p:oleObj>
              </mc:Choice>
              <mc:Fallback>
                <p:oleObj name="Ecuación" r:id="rId5" imgW="152268" imgH="152268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0" y="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9" name="Ecuación" r:id="rId6" imgW="152268" imgH="152268" progId="Equation.3">
                  <p:embed/>
                </p:oleObj>
              </mc:Choice>
              <mc:Fallback>
                <p:oleObj name="Ecuación" r:id="rId6" imgW="152268" imgH="152268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4495800" y="3352800"/>
          <a:ext cx="1524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0" name="Ecuación" r:id="rId7" imgW="152280" imgH="152280" progId="Equation.3">
                  <p:embed/>
                </p:oleObj>
              </mc:Choice>
              <mc:Fallback>
                <p:oleObj name="Ecuación" r:id="rId7" imgW="152280" imgH="152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352800"/>
                        <a:ext cx="1524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Dominios, Atributos,Tuplas, y Relaciones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Cardinalidad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Número total de valores en un dominio.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Estado actual de una relación r(R)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Estado de la relación en un momento dado. Refleja sólo las tuplas  válidas que representan un estado particular del mundo real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Nombre de los atributos o columnas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Identifican diferentes </a:t>
            </a:r>
            <a:r>
              <a:rPr lang="en-US" b="1" smtClean="0"/>
              <a:t>roles</a:t>
            </a:r>
            <a:r>
              <a:rPr lang="en-US" smtClean="0"/>
              <a:t>, o interpretaciones para el dominio, por ejemplo el mismo dominio </a:t>
            </a:r>
            <a:r>
              <a:rPr lang="en-US" i="1" smtClean="0"/>
              <a:t>teléfonos puede tener distintos roles: teléfono del hogar y teléfono del trabajo.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Características de las relaciones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Orden de las tuplas en una relación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La relación está definida como un conjunto de tuplas por lo tanto no tienen orden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El orden de los atributos y valores no es tan importante siempre que se mantenga la correspondiencia entre atributos y valores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Características de las relaciones</a:t>
            </a:r>
          </a:p>
        </p:txBody>
      </p:sp>
      <p:pic>
        <p:nvPicPr>
          <p:cNvPr id="7782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119313"/>
            <a:ext cx="81915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Características de las relaciones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Valores y NULLs en las tuplas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Cada valor en una tupla es atómico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Modelo relacional plano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No son permitidos los atributos compuestos o multivalorados 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Se asume </a:t>
            </a:r>
            <a:r>
              <a:rPr lang="en-US" b="1" smtClean="0"/>
              <a:t>Primera Forma normal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Atributos multivalorados pueden ser representados por relaciones separadas </a:t>
            </a:r>
          </a:p>
          <a:p>
            <a:pPr lvl="2">
              <a:buFont typeface="Arial" charset="0"/>
              <a:buChar char="•"/>
            </a:pPr>
            <a:r>
              <a:rPr lang="en-US" smtClean="0"/>
              <a:t>Atributos compuestos representados por atributos simples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Características de las relaciones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4294967295"/>
          </p:nvPr>
        </p:nvSpPr>
        <p:spPr>
          <a:xfrm>
            <a:off x="381000" y="1295400"/>
            <a:ext cx="8228013" cy="4524375"/>
          </a:xfrm>
        </p:spPr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Valores Nulos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Representan valores de atributos que pueden ser: 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Desconocidos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Conocido y no está disponible 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o  no aplique a la tupla.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Restricciones (Constraints)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Restricciones sobre los valores actuales en un estado de la base de datos.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Derivados de reglas en el “minimundo” que la base de datos representa.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sz="2600" cap="none" smtClean="0"/>
              <a:t>Restricciones del modelo relacional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z="2000" smtClean="0"/>
              <a:t>Tres categorías de Restricciones: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Inherentes al modelo o implícitas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Restricciones basadas en el esquema o explícitas (expresadas por DDL)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Basadas en la aplicación o restricciones de semántica o reglas de negocio.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No pueden ser expresadas directamente en el modelo</a:t>
            </a:r>
          </a:p>
          <a:p>
            <a:pPr lvl="2">
              <a:buClr>
                <a:srgbClr val="0070C0"/>
              </a:buClr>
              <a:buSzPct val="80000"/>
              <a:buFont typeface="Wingdings" pitchFamily="2" charset="2"/>
              <a:buChar char="§"/>
            </a:pPr>
            <a:r>
              <a:rPr lang="en-US" smtClean="0"/>
              <a:t>Expresadas y cumplidas por la aplicación.</a:t>
            </a:r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endParaRPr lang="en-US" b="1" smtClean="0"/>
          </a:p>
          <a:p>
            <a:pPr lvl="1">
              <a:buClr>
                <a:srgbClr val="800000"/>
              </a:buClr>
              <a:buFont typeface="Wingdings" pitchFamily="2" charset="2"/>
              <a:buChar char="§"/>
            </a:pPr>
            <a:endParaRPr lang="en-US" b="1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endParaRPr lang="en-US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Restricciones de dominio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47800"/>
            <a:ext cx="8228013" cy="4524375"/>
          </a:xfrm>
        </p:spPr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Tipicamente incluye: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Data types numéricos para números enteros y reales.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caracteres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booleanos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Cadena de strings de largo fijo o variable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Date, time, timestamp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Money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Otros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Restricciones de clave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Super Clave</a:t>
            </a:r>
          </a:p>
          <a:p>
            <a:pPr lvl="1"/>
            <a:r>
              <a:rPr lang="en-US" smtClean="0"/>
              <a:t>Dado R(A1,...,An), se dice que X </a:t>
            </a:r>
            <a:r>
              <a:rPr lang="en-US" smtClean="0">
                <a:latin typeface="Symbol" pitchFamily="18" charset="2"/>
              </a:rPr>
              <a:t>Í</a:t>
            </a:r>
            <a:r>
              <a:rPr lang="en-US" smtClean="0"/>
              <a:t> en   {A1,...,An} es </a:t>
            </a:r>
            <a:r>
              <a:rPr lang="en-US" b="1" i="1" smtClean="0"/>
              <a:t>superclave </a:t>
            </a:r>
            <a:r>
              <a:rPr lang="en-US" smtClean="0"/>
              <a:t>en un esquema R, si no puede existir ninguna r(R) tal que tenga dos tuplas con valores iguales de X (t[X] = t’[X]).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Clave</a:t>
            </a:r>
          </a:p>
          <a:p>
            <a:pPr lvl="1"/>
            <a:r>
              <a:rPr lang="en-US" smtClean="0"/>
              <a:t>Una </a:t>
            </a:r>
            <a:r>
              <a:rPr lang="en-US" b="1" i="1" smtClean="0"/>
              <a:t>clave </a:t>
            </a:r>
            <a:r>
              <a:rPr lang="en-US" smtClean="0"/>
              <a:t>es una </a:t>
            </a:r>
            <a:r>
              <a:rPr lang="en-US" i="1" smtClean="0"/>
              <a:t>superclave </a:t>
            </a:r>
            <a:r>
              <a:rPr lang="en-US" smtClean="0"/>
              <a:t>que no contiene</a:t>
            </a:r>
          </a:p>
          <a:p>
            <a:pPr lvl="1"/>
            <a:r>
              <a:rPr lang="en-US" smtClean="0"/>
              <a:t>propiamente una </a:t>
            </a:r>
            <a:r>
              <a:rPr lang="en-US" i="1" smtClean="0"/>
              <a:t>superclave </a:t>
            </a:r>
            <a:r>
              <a:rPr lang="en-US" smtClean="0"/>
              <a:t>(o sea minimal).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Claves candidatas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Restricciones de clave</a:t>
            </a:r>
          </a:p>
        </p:txBody>
      </p:sp>
      <p:pic>
        <p:nvPicPr>
          <p:cNvPr id="8397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14563"/>
            <a:ext cx="82105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Integridad, Integridad Referencial y Claves Foráneas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Restricción de integridad de entidad</a:t>
            </a:r>
            <a:endParaRPr lang="en-US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Ningún valor de una clave primaria puede ser nulo.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Restricción de integridad referencial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Especificada entre dos relaciones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Mantiene consistencia entre tuplas de dos relaciones.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4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Integridad, Integridad Referencial y Claves Foráneas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Reglas de</a:t>
            </a:r>
            <a:r>
              <a:rPr lang="en-US" b="1" smtClean="0"/>
              <a:t> Clave Foránea</a:t>
            </a:r>
            <a:r>
              <a:rPr lang="en-US" smtClean="0"/>
              <a:t>: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Dado R, un conjunto de atributos X es una </a:t>
            </a:r>
            <a:r>
              <a:rPr lang="en-US" b="1" i="1" smtClean="0"/>
              <a:t>FK</a:t>
            </a:r>
          </a:p>
          <a:p>
            <a:pPr lvl="1"/>
            <a:r>
              <a:rPr lang="en-US" smtClean="0"/>
              <a:t>de R si: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Los atributos de X coinciden en dominio con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los de una clave Y de S.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Los valores de X en tuplas de r(R) (para toda r)</a:t>
            </a:r>
          </a:p>
          <a:p>
            <a:pPr lvl="1"/>
            <a:r>
              <a:rPr lang="en-US" smtClean="0"/>
              <a:t> corresponden a valores de Y en la relación s(S) o son nulos.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Todas las restriciones de integridad deben ser especificadas en el esquema relacional.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Otros tipos de restricciones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Restricciones de integridad semántica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Son especificadas y cumplidas sobre la base de datos relacianl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Usar </a:t>
            </a:r>
            <a:r>
              <a:rPr lang="en-US" b="1" smtClean="0"/>
              <a:t>triggers</a:t>
            </a:r>
            <a:r>
              <a:rPr lang="en-US" smtClean="0"/>
              <a:t> y </a:t>
            </a:r>
            <a:r>
              <a:rPr lang="en-US" b="1" smtClean="0"/>
              <a:t>assertions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También pueden dejarse como control del programa o aplicación.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304800" y="0"/>
            <a:ext cx="82280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Operaciones de modificación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4294967295"/>
          </p:nvPr>
        </p:nvSpPr>
        <p:spPr>
          <a:xfrm>
            <a:off x="304800" y="1143000"/>
            <a:ext cx="8228013" cy="4300538"/>
          </a:xfrm>
        </p:spPr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Insert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Sea R(A,B,C) y r(R),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insert </a:t>
            </a:r>
            <a:r>
              <a:rPr lang="en-US" smtClean="0"/>
              <a:t>&lt;a,b,c&gt; </a:t>
            </a:r>
            <a:r>
              <a:rPr lang="en-US" b="1" smtClean="0"/>
              <a:t>into </a:t>
            </a:r>
            <a:r>
              <a:rPr lang="en-US" smtClean="0"/>
              <a:t>R</a:t>
            </a:r>
          </a:p>
          <a:p>
            <a:r>
              <a:rPr lang="en-US" smtClean="0"/>
              <a:t>	Incluye la tupla &lt;a,b,c&gt; en la relación r.</a:t>
            </a:r>
          </a:p>
          <a:p>
            <a:r>
              <a:rPr lang="en-US" smtClean="0"/>
              <a:t>	Las tuplas insertadas deben cumplir las RI.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Delete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Delete from </a:t>
            </a:r>
            <a:r>
              <a:rPr lang="en-US" smtClean="0"/>
              <a:t>R </a:t>
            </a:r>
            <a:r>
              <a:rPr lang="en-US" b="1" smtClean="0"/>
              <a:t>where </a:t>
            </a:r>
            <a:r>
              <a:rPr lang="en-US" smtClean="0"/>
              <a:t>A=''a''</a:t>
            </a:r>
            <a:r>
              <a:rPr lang="en-US" b="1" smtClean="0"/>
              <a:t> t</a:t>
            </a:r>
            <a:endParaRPr lang="en-US" smtClean="0"/>
          </a:p>
          <a:p>
            <a:r>
              <a:rPr lang="en-US" smtClean="0"/>
              <a:t>			borra de las tuplas de r cuyo valor para 		A es ''a''.</a:t>
            </a:r>
          </a:p>
          <a:p>
            <a:r>
              <a:rPr lang="en-US" smtClean="0"/>
              <a:t>Borrar tuplas puede generar violaciones a RI,</a:t>
            </a:r>
          </a:p>
          <a:p>
            <a:r>
              <a:rPr lang="en-US" smtClean="0"/>
              <a:t>¿En qué casos 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457200" y="609600"/>
            <a:ext cx="8228013" cy="1143000"/>
          </a:xfrm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Operaciones de modificación</a:t>
            </a:r>
          </a:p>
        </p:txBody>
      </p:sp>
      <p:sp>
        <p:nvSpPr>
          <p:cNvPr id="89091" name="Content Placeholder 2"/>
          <p:cNvSpPr>
            <a:spLocks noGrp="1"/>
          </p:cNvSpPr>
          <p:nvPr>
            <p:ph idx="4294967295"/>
          </p:nvPr>
        </p:nvSpPr>
        <p:spPr>
          <a:xfrm>
            <a:off x="457200" y="2286000"/>
            <a:ext cx="8228013" cy="4300538"/>
          </a:xfrm>
        </p:spPr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smtClean="0"/>
              <a:t>Update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smtClean="0"/>
              <a:t>update </a:t>
            </a:r>
            <a:r>
              <a:rPr lang="en-US" smtClean="0"/>
              <a:t>R </a:t>
            </a:r>
            <a:r>
              <a:rPr lang="en-US" b="1" smtClean="0"/>
              <a:t>set </a:t>
            </a:r>
            <a:r>
              <a:rPr lang="en-US" smtClean="0"/>
              <a:t>A = ''a1'' </a:t>
            </a:r>
            <a:r>
              <a:rPr lang="en-US" b="1" smtClean="0"/>
              <a:t>where </a:t>
            </a:r>
            <a:r>
              <a:rPr lang="en-US" smtClean="0"/>
              <a:t>B = ''b''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Modifica las tuplas de r cuyo valor de B es ''b'‘,</a:t>
            </a:r>
          </a:p>
          <a:p>
            <a:r>
              <a:rPr lang="en-US" smtClean="0"/>
              <a:t>	 colocando “a1” como valor de A.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endParaRPr lang="en-US" smtClean="0"/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Actualizar tuplas puede generar violaciones a</a:t>
            </a:r>
          </a:p>
          <a:p>
            <a:r>
              <a:rPr lang="en-US" smtClean="0"/>
              <a:t>    RI, ¿En qué casos?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762000"/>
            <a:ext cx="71913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4"/>
          <p:cNvPicPr>
            <a:picLocks noChangeAspect="1" noChangeArrowheads="1"/>
          </p:cNvPicPr>
          <p:nvPr/>
        </p:nvPicPr>
        <p:blipFill>
          <a:blip r:embed="rId2"/>
          <a:srcRect t="951"/>
          <a:stretch>
            <a:fillRect/>
          </a:stretch>
        </p:blipFill>
        <p:spPr bwMode="auto">
          <a:xfrm>
            <a:off x="381000" y="1295400"/>
            <a:ext cx="7929563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9" name="Picture 5"/>
          <p:cNvPicPr>
            <a:picLocks noChangeAspect="1" noChangeArrowheads="1"/>
          </p:cNvPicPr>
          <p:nvPr/>
        </p:nvPicPr>
        <p:blipFill>
          <a:blip r:embed="rId3"/>
          <a:srcRect r="4237"/>
          <a:stretch>
            <a:fillRect/>
          </a:stretch>
        </p:blipFill>
        <p:spPr bwMode="auto">
          <a:xfrm>
            <a:off x="381000" y="504825"/>
            <a:ext cx="82645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838200"/>
            <a:ext cx="7412038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cap="none" smtClean="0"/>
              <a:t>Concepto de Transacción</a:t>
            </a:r>
          </a:p>
        </p:txBody>
      </p:sp>
      <p:sp>
        <p:nvSpPr>
          <p:cNvPr id="93187" name="Content Placeholder 2"/>
          <p:cNvSpPr>
            <a:spLocks noGrp="1"/>
          </p:cNvSpPr>
          <p:nvPr>
            <p:ph idx="4294967295"/>
          </p:nvPr>
        </p:nvSpPr>
        <p:spPr/>
        <p:txBody>
          <a:bodyPr lIns="0" tIns="0" rIns="0" bIns="0"/>
          <a:lstStyle/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Transacción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>
                <a:solidFill>
                  <a:schemeClr val="accent1"/>
                </a:solidFill>
              </a:rPr>
              <a:t>Executing program</a:t>
            </a:r>
            <a:r>
              <a:rPr lang="en-US" smtClean="0"/>
              <a:t>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Incluye algunas operaciones sobre la base de datos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smtClean="0"/>
              <a:t>Debe dejar la base de datos en estado de consistencia.</a:t>
            </a:r>
          </a:p>
          <a:p>
            <a:pPr>
              <a:buClr>
                <a:srgbClr val="800000"/>
              </a:buClr>
              <a:buFont typeface="Wingdings" pitchFamily="2" charset="2"/>
              <a:buChar char="§"/>
            </a:pPr>
            <a:r>
              <a:rPr lang="en-US" b="1" smtClean="0"/>
              <a:t>Online transaction processing (OLTP) systems 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s-ES" smtClean="0"/>
              <a:t>Ejecutan transacciones a tasas que llegan a varios cientos por segundo. </a:t>
            </a:r>
            <a:endParaRPr lang="en-US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irador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339</TotalTime>
  <Words>990</Words>
  <Application>Microsoft Office PowerPoint</Application>
  <PresentationFormat>Presentación en pantalla (4:3)</PresentationFormat>
  <Paragraphs>152</Paragraphs>
  <Slides>26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8" baseType="lpstr">
      <vt:lpstr>Mirador</vt:lpstr>
      <vt:lpstr>Ecuación</vt:lpstr>
      <vt:lpstr>Bases de datos 1</vt:lpstr>
      <vt:lpstr>MODELO de DATOS RELACIONAL</vt:lpstr>
      <vt:lpstr>MODELO de DATOS RELACIONAL(2)</vt:lpstr>
      <vt:lpstr> Conceptos del MODELO RELACIONAL</vt:lpstr>
      <vt:lpstr>Conceptos de Modelo Relacional</vt:lpstr>
      <vt:lpstr>Dominios, Atributos,Tuplas, y Relaciones</vt:lpstr>
      <vt:lpstr>Dominios, Atributos,Tuplas, y Relaciones</vt:lpstr>
      <vt:lpstr>Dominios, Atributos,Tuplas, y Relaciones</vt:lpstr>
      <vt:lpstr>Dominios, Atributos,Tuplas, y Relaciones</vt:lpstr>
      <vt:lpstr>Características de las relaciones</vt:lpstr>
      <vt:lpstr>Características de las relaciones</vt:lpstr>
      <vt:lpstr>Características de las relaciones</vt:lpstr>
      <vt:lpstr>Características de las relaciones</vt:lpstr>
      <vt:lpstr>Restricciones del modelo relacional</vt:lpstr>
      <vt:lpstr>Restricciones de dominio</vt:lpstr>
      <vt:lpstr>Restricciones de clave</vt:lpstr>
      <vt:lpstr>Restricciones de clave</vt:lpstr>
      <vt:lpstr>Integridad, Integridad Referencial y Claves Foráneas</vt:lpstr>
      <vt:lpstr>Integridad, Integridad Referencial y Claves Foráneas</vt:lpstr>
      <vt:lpstr>Otros tipos de restricciones</vt:lpstr>
      <vt:lpstr>Operaciones de modificación</vt:lpstr>
      <vt:lpstr>Operaciones de modificación</vt:lpstr>
      <vt:lpstr>Presentación de PowerPoint</vt:lpstr>
      <vt:lpstr>Presentación de PowerPoint</vt:lpstr>
      <vt:lpstr>Presentación de PowerPoint</vt:lpstr>
      <vt:lpstr>Concepto de Transacción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1</dc:title>
  <dc:creator>Administrador</dc:creator>
  <cp:lastModifiedBy>Admin</cp:lastModifiedBy>
  <cp:revision>27</cp:revision>
  <dcterms:created xsi:type="dcterms:W3CDTF">2012-03-09T21:03:51Z</dcterms:created>
  <dcterms:modified xsi:type="dcterms:W3CDTF">2012-08-09T05:19:26Z</dcterms:modified>
</cp:coreProperties>
</file>