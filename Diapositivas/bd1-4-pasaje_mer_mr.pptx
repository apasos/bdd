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1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9144000" cy="6858000" type="screen4x3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02654-5B30-424A-8013-FBF38943330A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Y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7B3D3-3943-4765-AB36-38C40B81334E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89767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5</a:t>
            </a:fld>
            <a:endParaRPr lang="es-UY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6</a:t>
            </a:fld>
            <a:endParaRPr lang="es-UY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7</a:t>
            </a:fld>
            <a:endParaRPr lang="es-UY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8</a:t>
            </a:fld>
            <a:endParaRPr lang="es-UY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9</a:t>
            </a:fld>
            <a:endParaRPr lang="es-UY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10</a:t>
            </a:fld>
            <a:endParaRPr lang="es-UY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11</a:t>
            </a:fld>
            <a:endParaRPr lang="es-UY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12</a:t>
            </a:fld>
            <a:endParaRPr lang="es-UY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13</a:t>
            </a:fld>
            <a:endParaRPr lang="es-UY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14</a:t>
            </a:fld>
            <a:endParaRPr lang="es-UY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15</a:t>
            </a:fld>
            <a:endParaRPr lang="es-UY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16</a:t>
            </a:fld>
            <a:endParaRPr lang="es-UY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17</a:t>
            </a:fld>
            <a:endParaRPr lang="es-UY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18</a:t>
            </a:fld>
            <a:endParaRPr lang="es-UY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19</a:t>
            </a:fld>
            <a:endParaRPr lang="es-UY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7B3D3-3943-4765-AB36-38C40B81334E}" type="slidenum">
              <a:rPr lang="es-UY" smtClean="0"/>
              <a:t>20</a:t>
            </a:fld>
            <a:endParaRPr lang="es-UY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BCE3865-CE3D-4DFB-BE4C-51FACCC5F4EC}" type="datetimeFigureOut">
              <a:rPr lang="es-UY" smtClean="0"/>
              <a:pPr/>
              <a:t>09/08/2012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UY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6A179B-BE55-4EA7-A7EE-1046B94717E2}" type="slidenum">
              <a:rPr lang="es-UY" smtClean="0"/>
              <a:pPr/>
              <a:t>‹Nº›</a:t>
            </a:fld>
            <a:endParaRPr lang="es-U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17" r:id="rId1"/>
    <p:sldLayoutId id="2147484718" r:id="rId2"/>
    <p:sldLayoutId id="2147484719" r:id="rId3"/>
    <p:sldLayoutId id="2147484720" r:id="rId4"/>
    <p:sldLayoutId id="2147484721" r:id="rId5"/>
    <p:sldLayoutId id="2147484722" r:id="rId6"/>
    <p:sldLayoutId id="2147484723" r:id="rId7"/>
    <p:sldLayoutId id="2147484724" r:id="rId8"/>
    <p:sldLayoutId id="2147484725" r:id="rId9"/>
    <p:sldLayoutId id="2147484726" r:id="rId10"/>
    <p:sldLayoutId id="214748472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Y" dirty="0" smtClean="0"/>
              <a:t>Bases </a:t>
            </a:r>
            <a:r>
              <a:rPr lang="es-UY" smtClean="0"/>
              <a:t>de </a:t>
            </a:r>
            <a:r>
              <a:rPr lang="es-UY" smtClean="0"/>
              <a:t>datos </a:t>
            </a:r>
            <a:r>
              <a:rPr lang="es-UY" dirty="0" smtClean="0"/>
              <a:t>1</a:t>
            </a:r>
            <a:endParaRPr lang="es-UY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UY" dirty="0" smtClean="0"/>
              <a:t>Teórico: Pasaje del </a:t>
            </a:r>
            <a:r>
              <a:rPr lang="es-UY" smtClean="0"/>
              <a:t>MER al MR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86498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Introducción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s-UY" dirty="0" smtClean="0"/>
              <a:t>Hay reglas para cada estructura del MER:</a:t>
            </a:r>
          </a:p>
          <a:p>
            <a:r>
              <a:rPr lang="es-UY" dirty="0" smtClean="0"/>
              <a:t>Entidades Fuertes y Atributos</a:t>
            </a:r>
          </a:p>
          <a:p>
            <a:r>
              <a:rPr lang="es-UY" dirty="0" smtClean="0"/>
              <a:t>Entidades Débiles</a:t>
            </a:r>
          </a:p>
          <a:p>
            <a:r>
              <a:rPr lang="es-UY" dirty="0" smtClean="0"/>
              <a:t>Relaciones</a:t>
            </a:r>
          </a:p>
          <a:p>
            <a:r>
              <a:rPr lang="es-UY" dirty="0" smtClean="0"/>
              <a:t>Agregaciones</a:t>
            </a:r>
          </a:p>
          <a:p>
            <a:r>
              <a:rPr lang="es-UY" dirty="0" smtClean="0"/>
              <a:t>Categorizaciones</a:t>
            </a:r>
          </a:p>
          <a:p>
            <a:endParaRPr lang="es-UY" dirty="0" smtClean="0"/>
          </a:p>
          <a:p>
            <a:r>
              <a:rPr lang="es-UY" dirty="0" smtClean="0"/>
              <a:t>Trabajaremos sobre el ejemplo de los hospitales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48445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Entidades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Por cada entidad se crea una tabla.</a:t>
            </a:r>
          </a:p>
          <a:p>
            <a:r>
              <a:rPr lang="es-UY" dirty="0" smtClean="0"/>
              <a:t>Por cada atributo simple se crea un atributo en la tabla</a:t>
            </a:r>
          </a:p>
          <a:p>
            <a:r>
              <a:rPr lang="es-UY" dirty="0" smtClean="0"/>
              <a:t>Para cada atributo estructurado se crean tantos atributos como “hojas” tenga la estructura.</a:t>
            </a:r>
          </a:p>
          <a:p>
            <a:r>
              <a:rPr lang="es-UY" dirty="0" smtClean="0"/>
              <a:t>Si tiene atributos multivaluados los procesamos más adelante.</a:t>
            </a:r>
          </a:p>
          <a:p>
            <a:r>
              <a:rPr lang="es-UY" dirty="0" smtClean="0"/>
              <a:t>¿Cuál es la clave primaria?</a:t>
            </a:r>
          </a:p>
          <a:p>
            <a:r>
              <a:rPr lang="es-UY" dirty="0" smtClean="0"/>
              <a:t>Se selecciona uno de los atributos determinantes de la entidad como clave primaria de la tabla.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Ejemplo</a:t>
            </a:r>
            <a:endParaRPr lang="es-UY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772816"/>
            <a:ext cx="364807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755576" y="4365104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Y" dirty="0" smtClean="0"/>
              <a:t>PERSONAL(</a:t>
            </a:r>
            <a:r>
              <a:rPr lang="es-UY" u="sng" dirty="0" smtClean="0"/>
              <a:t>cedula</a:t>
            </a:r>
            <a:r>
              <a:rPr lang="es-UY" dirty="0" smtClean="0"/>
              <a:t>, nombre, edad, ciudad, </a:t>
            </a:r>
            <a:r>
              <a:rPr lang="es-UY" dirty="0" err="1" smtClean="0"/>
              <a:t>calle,numero</a:t>
            </a:r>
            <a:r>
              <a:rPr lang="es-UY" dirty="0" smtClean="0"/>
              <a:t>)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Entidades débiles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Por cada entidad débil se crea una tabla.</a:t>
            </a:r>
          </a:p>
          <a:p>
            <a:r>
              <a:rPr lang="es-UY" dirty="0" smtClean="0"/>
              <a:t>Se procede con los atributos igual que para las entidades.</a:t>
            </a:r>
          </a:p>
          <a:p>
            <a:r>
              <a:rPr lang="es-UY" dirty="0" smtClean="0"/>
              <a:t>Se incluyen como atributos los de la clave primaria de la tabla que representa a la entidad “fuerte”</a:t>
            </a:r>
          </a:p>
          <a:p>
            <a:r>
              <a:rPr lang="es-UY" dirty="0" smtClean="0"/>
              <a:t>¿Cuál es la clave primaria?</a:t>
            </a:r>
          </a:p>
          <a:p>
            <a:r>
              <a:rPr lang="es-UY" dirty="0" smtClean="0"/>
              <a:t>Clave primaria de la tabla que representa a la entidad fuerte + atributo/s que representa al identificador parcial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Ejemplo</a:t>
            </a:r>
            <a:endParaRPr lang="es-UY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1844824"/>
            <a:ext cx="686752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827584" y="4221088"/>
            <a:ext cx="58326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Y" dirty="0" smtClean="0"/>
              <a:t> HOSPITALES(</a:t>
            </a:r>
            <a:r>
              <a:rPr lang="es-UY" u="sng" dirty="0" smtClean="0"/>
              <a:t>nombre</a:t>
            </a:r>
            <a:r>
              <a:rPr lang="es-UY" dirty="0" smtClean="0"/>
              <a:t>, direccion, telefono)</a:t>
            </a:r>
          </a:p>
          <a:p>
            <a:r>
              <a:rPr lang="es-UY" dirty="0" smtClean="0"/>
              <a:t> SALAS( </a:t>
            </a:r>
            <a:r>
              <a:rPr lang="es-UY" u="sng" dirty="0" smtClean="0"/>
              <a:t>nombreHospital, nombreSala</a:t>
            </a:r>
            <a:r>
              <a:rPr lang="es-UY" dirty="0" smtClean="0"/>
              <a:t>, cantCamas)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Relaciones N:N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UY" dirty="0" smtClean="0"/>
              <a:t>Para cada relación con cardinalidad N:N se crea una tabla donde:</a:t>
            </a:r>
          </a:p>
          <a:p>
            <a:r>
              <a:rPr lang="es-UY" dirty="0" smtClean="0"/>
              <a:t> Se colocan las claves primarias de las tablas que representan a cada una de las entidades participantes.</a:t>
            </a:r>
          </a:p>
          <a:p>
            <a:r>
              <a:rPr lang="es-UY" dirty="0" smtClean="0"/>
              <a:t> Si existen atributos en la relación se tratan como si fueran los de una entidad.</a:t>
            </a:r>
          </a:p>
          <a:p>
            <a:pPr>
              <a:buNone/>
            </a:pPr>
            <a:r>
              <a:rPr lang="es-UY" dirty="0" smtClean="0"/>
              <a:t>¿Cómo se determina la clave primaria?</a:t>
            </a:r>
          </a:p>
          <a:p>
            <a:r>
              <a:rPr lang="es-UY" dirty="0" smtClean="0"/>
              <a:t> Está formada por los atributos correspondientes a las claves primarias de las tablas que representan a las entidades participantes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Ejemplo</a:t>
            </a:r>
            <a:endParaRPr lang="es-UY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1772816"/>
            <a:ext cx="68008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755576" y="4221088"/>
            <a:ext cx="6840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Y" dirty="0" smtClean="0"/>
              <a:t>SALAS (</a:t>
            </a:r>
            <a:r>
              <a:rPr lang="es-UY" u="sng" dirty="0" smtClean="0"/>
              <a:t>nombre</a:t>
            </a:r>
            <a:r>
              <a:rPr lang="es-UY" dirty="0" smtClean="0"/>
              <a:t>, cant_camas)</a:t>
            </a:r>
          </a:p>
          <a:p>
            <a:r>
              <a:rPr lang="es-UY" dirty="0" smtClean="0"/>
              <a:t>PERSONAL (</a:t>
            </a:r>
            <a:r>
              <a:rPr lang="es-UY" u="sng" dirty="0" smtClean="0"/>
              <a:t>cedula</a:t>
            </a:r>
            <a:r>
              <a:rPr lang="es-UY" dirty="0" smtClean="0"/>
              <a:t>, nombre, ciudad, calle, numero)</a:t>
            </a:r>
          </a:p>
          <a:p>
            <a:r>
              <a:rPr lang="es-UY" dirty="0" smtClean="0"/>
              <a:t>TRABAJAN (</a:t>
            </a:r>
            <a:r>
              <a:rPr lang="es-UY" u="sng" dirty="0" smtClean="0"/>
              <a:t>nombreSala, cedula</a:t>
            </a:r>
            <a:r>
              <a:rPr lang="es-UY" dirty="0" smtClean="0"/>
              <a:t>, entrada, salida)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Dependencias de inclusión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Por cada entidad participante en una relación se agrega una dependencia de inclusión.</a:t>
            </a:r>
          </a:p>
          <a:p>
            <a:r>
              <a:rPr lang="es-UY" dirty="0" smtClean="0"/>
              <a:t>Sea R la tabla de la relación y Q la tabla de un participante:</a:t>
            </a:r>
          </a:p>
          <a:p>
            <a:r>
              <a:rPr lang="el-GR" dirty="0" smtClean="0"/>
              <a:t>π</a:t>
            </a:r>
            <a:r>
              <a:rPr lang="es-UY" dirty="0" smtClean="0"/>
              <a:t>q_pk(R) ⊆ </a:t>
            </a:r>
            <a:r>
              <a:rPr lang="el-GR" dirty="0" smtClean="0"/>
              <a:t>π </a:t>
            </a:r>
            <a:r>
              <a:rPr lang="es-UY" dirty="0" smtClean="0"/>
              <a:t>q_pk(Q), donde q_pk es la clave primaria de Q en R y en Q.</a:t>
            </a:r>
          </a:p>
          <a:p>
            <a:r>
              <a:rPr lang="es-UY" dirty="0" smtClean="0"/>
              <a:t>Si la relación R es total sobre Q, entonces se agrega también la inclusión al revés:</a:t>
            </a:r>
          </a:p>
          <a:p>
            <a:r>
              <a:rPr lang="el-GR" dirty="0" smtClean="0"/>
              <a:t>π </a:t>
            </a:r>
            <a:r>
              <a:rPr lang="pt-BR" dirty="0" smtClean="0"/>
              <a:t>q_pk(Q) </a:t>
            </a:r>
            <a:r>
              <a:rPr lang="es-UY" dirty="0" smtClean="0"/>
              <a:t>⊆ </a:t>
            </a:r>
            <a:r>
              <a:rPr lang="el-GR" dirty="0" smtClean="0"/>
              <a:t>π </a:t>
            </a:r>
            <a:r>
              <a:rPr lang="pt-BR" dirty="0" smtClean="0"/>
              <a:t>q_pk(R).</a:t>
            </a:r>
            <a:endParaRPr lang="es-UY" dirty="0" smtClean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En el ejemplo anterior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s-UY" dirty="0" smtClean="0"/>
          </a:p>
          <a:p>
            <a:r>
              <a:rPr lang="el-GR" dirty="0" smtClean="0"/>
              <a:t>π </a:t>
            </a:r>
            <a:r>
              <a:rPr lang="es-UY" dirty="0" smtClean="0"/>
              <a:t>nombreSala(TRABAJAN) ⊆ </a:t>
            </a:r>
            <a:r>
              <a:rPr lang="el-GR" dirty="0" smtClean="0"/>
              <a:t>π </a:t>
            </a:r>
            <a:r>
              <a:rPr lang="es-UY" dirty="0" smtClean="0"/>
              <a:t>nombre(SALAS)</a:t>
            </a:r>
          </a:p>
          <a:p>
            <a:endParaRPr lang="es-UY" dirty="0" smtClean="0"/>
          </a:p>
          <a:p>
            <a:r>
              <a:rPr lang="el-GR" dirty="0" smtClean="0"/>
              <a:t>π </a:t>
            </a:r>
            <a:r>
              <a:rPr lang="es-UY" dirty="0" smtClean="0"/>
              <a:t>cedula(TRABAJAN) ⊆ </a:t>
            </a:r>
            <a:r>
              <a:rPr lang="el-GR" dirty="0" smtClean="0"/>
              <a:t>π </a:t>
            </a:r>
            <a:r>
              <a:rPr lang="es-UY" dirty="0" smtClean="0"/>
              <a:t>cedula(PERSONAL)</a:t>
            </a:r>
          </a:p>
          <a:p>
            <a:endParaRPr lang="es-UY" dirty="0" smtClean="0"/>
          </a:p>
          <a:p>
            <a:r>
              <a:rPr lang="el-GR" dirty="0" smtClean="0"/>
              <a:t>π </a:t>
            </a:r>
            <a:r>
              <a:rPr lang="es-UY" dirty="0" smtClean="0"/>
              <a:t>cedula(PERSONAL) ⊆ </a:t>
            </a:r>
            <a:r>
              <a:rPr lang="el-GR" dirty="0" smtClean="0"/>
              <a:t>π </a:t>
            </a:r>
            <a:r>
              <a:rPr lang="es-UY" dirty="0" smtClean="0"/>
              <a:t>cedula(TRABAJAN)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Relaciones 1:N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UY" dirty="0" smtClean="0"/>
              <a:t>Si la relación es 1:N y total del lado N:</a:t>
            </a:r>
          </a:p>
          <a:p>
            <a:r>
              <a:rPr lang="es-UY" dirty="0" smtClean="0"/>
              <a:t>Se puede representar la relación en la tabla que representa a la entidad con cardinalidad N.</a:t>
            </a:r>
          </a:p>
          <a:p>
            <a:pPr>
              <a:buNone/>
            </a:pPr>
            <a:r>
              <a:rPr lang="es-UY" dirty="0" smtClean="0"/>
              <a:t>¿Cómo?</a:t>
            </a:r>
          </a:p>
          <a:p>
            <a:r>
              <a:rPr lang="es-UY" dirty="0" smtClean="0"/>
              <a:t>Se agrega a dicha tabla los atributos que son clave primaria de la tabla que representa la otra entidad.</a:t>
            </a:r>
          </a:p>
          <a:p>
            <a:r>
              <a:rPr lang="es-UY" dirty="0" smtClean="0"/>
              <a:t>Si la relación tiene atributos simples o estructurados se agregan también</a:t>
            </a:r>
          </a:p>
          <a:p>
            <a:pPr>
              <a:buNone/>
            </a:pPr>
            <a:r>
              <a:rPr lang="es-UY" dirty="0" smtClean="0"/>
              <a:t>¿Cómo se determina la clave primaria?</a:t>
            </a:r>
          </a:p>
          <a:p>
            <a:r>
              <a:rPr lang="es-UY" dirty="0" smtClean="0"/>
              <a:t> La clave primaria no se modifica.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Ejemplo</a:t>
            </a:r>
            <a:endParaRPr lang="es-UY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1772816"/>
            <a:ext cx="6943725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683568" y="3861048"/>
            <a:ext cx="60486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Y" dirty="0" smtClean="0"/>
              <a:t>SALAS (</a:t>
            </a:r>
            <a:r>
              <a:rPr lang="es-UY" u="sng" dirty="0" smtClean="0"/>
              <a:t>nombre</a:t>
            </a:r>
            <a:r>
              <a:rPr lang="es-UY" dirty="0" smtClean="0"/>
              <a:t>, cant_camas)</a:t>
            </a:r>
          </a:p>
          <a:p>
            <a:endParaRPr lang="es-UY" dirty="0" smtClean="0"/>
          </a:p>
          <a:p>
            <a:r>
              <a:rPr lang="es-UY" dirty="0" smtClean="0"/>
              <a:t>PERSONAL (</a:t>
            </a:r>
            <a:r>
              <a:rPr lang="es-UY" u="sng" dirty="0" smtClean="0"/>
              <a:t>cedula</a:t>
            </a:r>
            <a:r>
              <a:rPr lang="es-UY" dirty="0" smtClean="0"/>
              <a:t>, nombre, ciudad, calle,</a:t>
            </a:r>
          </a:p>
          <a:p>
            <a:r>
              <a:rPr lang="es-UY" dirty="0" smtClean="0"/>
              <a:t>numero, nombreSala, hEntrada, hSalida)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Atributos multivaluados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Por cada atributo multivaluado (ya sea de entidad o de relación) se crea una tabla.</a:t>
            </a:r>
          </a:p>
          <a:p>
            <a:r>
              <a:rPr lang="es-UY" dirty="0" smtClean="0"/>
              <a:t>Se crea un atributo para el multivaluado.</a:t>
            </a:r>
          </a:p>
          <a:p>
            <a:r>
              <a:rPr lang="es-UY" dirty="0" smtClean="0"/>
              <a:t>Se agregan atributos que representan la clave primaria de la tabla que modela la entidad o relación a la cual pertenece el multivaluado</a:t>
            </a:r>
          </a:p>
          <a:p>
            <a:r>
              <a:rPr lang="es-UY" dirty="0" smtClean="0"/>
              <a:t>¿Cómo se determina la clave primaria?</a:t>
            </a:r>
          </a:p>
          <a:p>
            <a:r>
              <a:rPr lang="es-UY" dirty="0" smtClean="0"/>
              <a:t> La clave está formada por todos sus atributos.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Ejemplo</a:t>
            </a:r>
            <a:endParaRPr lang="es-UY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1772816"/>
            <a:ext cx="426720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755576" y="4365104"/>
            <a:ext cx="61206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Y" dirty="0" smtClean="0"/>
              <a:t>PERSONAL(</a:t>
            </a:r>
            <a:r>
              <a:rPr lang="es-UY" u="sng" dirty="0" smtClean="0"/>
              <a:t>cedula</a:t>
            </a:r>
            <a:r>
              <a:rPr lang="es-UY" dirty="0" smtClean="0"/>
              <a:t>, nombre, edad, ciudad, calle,</a:t>
            </a:r>
          </a:p>
          <a:p>
            <a:r>
              <a:rPr lang="es-UY" dirty="0" smtClean="0"/>
              <a:t>                      numero)</a:t>
            </a:r>
          </a:p>
          <a:p>
            <a:r>
              <a:rPr lang="es-UY" dirty="0" smtClean="0"/>
              <a:t>TELEFONOS(</a:t>
            </a:r>
            <a:r>
              <a:rPr lang="es-UY" u="sng" dirty="0" smtClean="0"/>
              <a:t>cedula, telefono</a:t>
            </a:r>
            <a:r>
              <a:rPr lang="es-UY" dirty="0" smtClean="0"/>
              <a:t>)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Agregación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UY" dirty="0" smtClean="0"/>
              <a:t>Recordemos que en MER el operador de  agregación transforma a las relaciones en entidades.</a:t>
            </a:r>
          </a:p>
          <a:p>
            <a:endParaRPr lang="es-UY" dirty="0" smtClean="0"/>
          </a:p>
          <a:p>
            <a:endParaRPr lang="es-UY" dirty="0" smtClean="0"/>
          </a:p>
          <a:p>
            <a:endParaRPr lang="es-UY" dirty="0" smtClean="0"/>
          </a:p>
          <a:p>
            <a:endParaRPr lang="es-UY" dirty="0" smtClean="0"/>
          </a:p>
          <a:p>
            <a:endParaRPr lang="es-UY" dirty="0" smtClean="0"/>
          </a:p>
          <a:p>
            <a:endParaRPr lang="es-UY" dirty="0" smtClean="0"/>
          </a:p>
          <a:p>
            <a:r>
              <a:rPr lang="es-UY" dirty="0" smtClean="0"/>
              <a:t>En este caso las parejas de la relación TRABAJAN se relacionan con TAREAS. </a:t>
            </a:r>
          </a:p>
          <a:p>
            <a:r>
              <a:rPr lang="es-UY" dirty="0" smtClean="0"/>
              <a:t>¿Cómo se identifican las parejas de TRABAJAN?</a:t>
            </a:r>
            <a:endParaRPr lang="es-UY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2708920"/>
            <a:ext cx="694372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Ejemplo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s-UY" dirty="0" smtClean="0"/>
          </a:p>
          <a:p>
            <a:r>
              <a:rPr lang="es-UY" dirty="0" smtClean="0"/>
              <a:t>TRABAJAN( </a:t>
            </a:r>
            <a:r>
              <a:rPr lang="es-UY" u="sng" dirty="0" smtClean="0"/>
              <a:t>nombreSala,cedula</a:t>
            </a:r>
            <a:r>
              <a:rPr lang="es-UY" dirty="0" smtClean="0"/>
              <a:t>, hEntrada, hSalida)</a:t>
            </a:r>
          </a:p>
          <a:p>
            <a:endParaRPr lang="es-UY" dirty="0" smtClean="0"/>
          </a:p>
          <a:p>
            <a:r>
              <a:rPr lang="es-UY" dirty="0" smtClean="0"/>
              <a:t>TAREAS( </a:t>
            </a:r>
            <a:r>
              <a:rPr lang="es-UY" u="sng" dirty="0" smtClean="0"/>
              <a:t>nombreTarea</a:t>
            </a:r>
            <a:r>
              <a:rPr lang="es-UY" dirty="0" smtClean="0"/>
              <a:t>, descripcion)</a:t>
            </a:r>
          </a:p>
          <a:p>
            <a:endParaRPr lang="es-UY" dirty="0" smtClean="0"/>
          </a:p>
          <a:p>
            <a:r>
              <a:rPr lang="es-UY" dirty="0" smtClean="0"/>
              <a:t>REALIZAN(</a:t>
            </a:r>
            <a:r>
              <a:rPr lang="es-UY" u="sng" dirty="0" smtClean="0"/>
              <a:t>nombreSala, cedula, nombreTarea</a:t>
            </a:r>
            <a:r>
              <a:rPr lang="es-UY" dirty="0" smtClean="0"/>
              <a:t>)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Categorizaciones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Una tabla para la superentidad</a:t>
            </a:r>
          </a:p>
          <a:p>
            <a:r>
              <a:rPr lang="es-UY" dirty="0" smtClean="0"/>
              <a:t>Una tabla por cada subentidad con referencia a la super-entidad.</a:t>
            </a:r>
          </a:p>
          <a:p>
            <a:endParaRPr lang="es-UY" dirty="0" smtClean="0"/>
          </a:p>
          <a:p>
            <a:r>
              <a:rPr lang="es-UY" sz="1000" dirty="0" smtClean="0"/>
              <a:t>PERSONAL(</a:t>
            </a:r>
            <a:r>
              <a:rPr lang="es-UY" sz="1000" u="sng" dirty="0" smtClean="0"/>
              <a:t>cedula</a:t>
            </a:r>
            <a:r>
              <a:rPr lang="es-UY" sz="1000" dirty="0" smtClean="0"/>
              <a:t>, nombre, ciudad, calle, numero)</a:t>
            </a:r>
          </a:p>
          <a:p>
            <a:r>
              <a:rPr lang="es-UY" sz="1000" dirty="0" smtClean="0"/>
              <a:t>MEDICOS( </a:t>
            </a:r>
            <a:r>
              <a:rPr lang="es-UY" sz="1000" u="sng" dirty="0" smtClean="0"/>
              <a:t>cedulaPersonal</a:t>
            </a:r>
            <a:r>
              <a:rPr lang="es-UY" sz="1000" dirty="0" smtClean="0"/>
              <a:t>, especialidad)</a:t>
            </a:r>
          </a:p>
          <a:p>
            <a:r>
              <a:rPr lang="es-UY" sz="1000" dirty="0" smtClean="0"/>
              <a:t>ENFERMEROS( </a:t>
            </a:r>
            <a:r>
              <a:rPr lang="es-UY" sz="1000" u="sng" dirty="0" smtClean="0"/>
              <a:t>cedulaPersonal</a:t>
            </a:r>
            <a:r>
              <a:rPr lang="es-UY" sz="1000" dirty="0" smtClean="0"/>
              <a:t>)</a:t>
            </a:r>
          </a:p>
          <a:p>
            <a:r>
              <a:rPr lang="es-UY" sz="1000" dirty="0" smtClean="0"/>
              <a:t>ADMINISTRATIVOS( </a:t>
            </a:r>
            <a:r>
              <a:rPr lang="es-UY" sz="1000" u="sng" dirty="0" smtClean="0"/>
              <a:t>cedulaPersonal</a:t>
            </a:r>
            <a:r>
              <a:rPr lang="es-UY" sz="1000" dirty="0" smtClean="0"/>
              <a:t>, antigüedad)</a:t>
            </a:r>
          </a:p>
          <a:p>
            <a:endParaRPr lang="es-UY" sz="1300" dirty="0" smtClean="0"/>
          </a:p>
          <a:p>
            <a:endParaRPr lang="es-UY" sz="1300" dirty="0" smtClean="0"/>
          </a:p>
          <a:p>
            <a:endParaRPr lang="es-UY" sz="1300" dirty="0" smtClean="0"/>
          </a:p>
          <a:p>
            <a:r>
              <a:rPr lang="es-UY" sz="1000" dirty="0" smtClean="0"/>
              <a:t>Funciona siempre!!</a:t>
            </a:r>
          </a:p>
          <a:p>
            <a:r>
              <a:rPr lang="el-GR" sz="1000" dirty="0" smtClean="0"/>
              <a:t>π</a:t>
            </a:r>
            <a:r>
              <a:rPr lang="es-UY" sz="1000" dirty="0" smtClean="0"/>
              <a:t>cedulaPersonal(MEDICOS)</a:t>
            </a:r>
            <a:r>
              <a:rPr lang="el-GR" sz="1000" dirty="0" smtClean="0"/>
              <a:t> </a:t>
            </a:r>
            <a:r>
              <a:rPr lang="es-UY" sz="1000" dirty="0" smtClean="0"/>
              <a:t>⊆ </a:t>
            </a:r>
            <a:r>
              <a:rPr lang="el-GR" sz="1000" dirty="0" smtClean="0"/>
              <a:t>π </a:t>
            </a:r>
            <a:r>
              <a:rPr lang="es-UY" sz="1000" dirty="0" smtClean="0"/>
              <a:t>cedula(PERSONAL)</a:t>
            </a:r>
          </a:p>
          <a:p>
            <a:r>
              <a:rPr lang="el-GR" sz="1000" dirty="0" smtClean="0"/>
              <a:t>π </a:t>
            </a:r>
            <a:r>
              <a:rPr lang="es-UY" sz="1000" dirty="0" smtClean="0"/>
              <a:t>cedulaPersonal(ENFERMEROS)</a:t>
            </a:r>
            <a:r>
              <a:rPr lang="el-GR" sz="1000" dirty="0" smtClean="0"/>
              <a:t> </a:t>
            </a:r>
            <a:r>
              <a:rPr lang="es-UY" sz="1000" dirty="0" smtClean="0"/>
              <a:t>⊆ </a:t>
            </a:r>
            <a:r>
              <a:rPr lang="el-GR" sz="1000" dirty="0" smtClean="0"/>
              <a:t>π </a:t>
            </a:r>
            <a:r>
              <a:rPr lang="es-UY" sz="1000" dirty="0" smtClean="0"/>
              <a:t>cedula(PERSONAL)</a:t>
            </a:r>
          </a:p>
          <a:p>
            <a:r>
              <a:rPr lang="el-GR" sz="1000" dirty="0" smtClean="0"/>
              <a:t>π </a:t>
            </a:r>
            <a:r>
              <a:rPr lang="es-UY" sz="1000" dirty="0" smtClean="0"/>
              <a:t>cedulaPersonal(ADMINISTRATIVOS)</a:t>
            </a:r>
            <a:r>
              <a:rPr lang="el-GR" sz="1000" dirty="0" smtClean="0"/>
              <a:t> </a:t>
            </a:r>
            <a:r>
              <a:rPr lang="es-UY" sz="1000" dirty="0" smtClean="0"/>
              <a:t>⊆ </a:t>
            </a:r>
            <a:r>
              <a:rPr lang="el-GR" sz="1000" dirty="0" smtClean="0"/>
              <a:t>π </a:t>
            </a:r>
            <a:r>
              <a:rPr lang="es-UY" sz="1000" dirty="0" smtClean="0"/>
              <a:t>cedula(PERSONAL)</a:t>
            </a:r>
          </a:p>
          <a:p>
            <a:endParaRPr lang="es-UY" dirty="0"/>
          </a:p>
        </p:txBody>
      </p:sp>
      <p:pic>
        <p:nvPicPr>
          <p:cNvPr id="4" name="3 Imagen" descr="Sin títul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11960" y="2492896"/>
            <a:ext cx="3935416" cy="294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Categorizaciones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Una tabla por cada sub-entidad</a:t>
            </a:r>
          </a:p>
          <a:p>
            <a:endParaRPr lang="es-UY" dirty="0" smtClean="0"/>
          </a:p>
          <a:p>
            <a:r>
              <a:rPr lang="es-UY" sz="1300" dirty="0" smtClean="0"/>
              <a:t>MEDICOS(cedula, nombre, ciudad, calle, numero, especialidad)</a:t>
            </a:r>
          </a:p>
          <a:p>
            <a:r>
              <a:rPr lang="es-UY" sz="1300" dirty="0" smtClean="0"/>
              <a:t>ENFERMEROS(cedula, nombre, ciudad, calle, numero)</a:t>
            </a:r>
          </a:p>
          <a:p>
            <a:r>
              <a:rPr lang="es-UY" sz="1300" dirty="0" smtClean="0"/>
              <a:t>ADMINISTRATIVOS(cedula, nombre, ciudad, calle, numero, antigüedad)</a:t>
            </a:r>
          </a:p>
          <a:p>
            <a:endParaRPr lang="es-UY" sz="1300" dirty="0" smtClean="0"/>
          </a:p>
          <a:p>
            <a:pPr>
              <a:buNone/>
            </a:pPr>
            <a:r>
              <a:rPr lang="es-UY" sz="1300" dirty="0" smtClean="0"/>
              <a:t>Funciona sólo si la</a:t>
            </a:r>
          </a:p>
          <a:p>
            <a:pPr>
              <a:buNone/>
            </a:pPr>
            <a:r>
              <a:rPr lang="es-UY" sz="1300" dirty="0" smtClean="0"/>
              <a:t>categorización</a:t>
            </a:r>
          </a:p>
          <a:p>
            <a:pPr>
              <a:buNone/>
            </a:pPr>
            <a:r>
              <a:rPr lang="es-UY" sz="1300" dirty="0" smtClean="0"/>
              <a:t>es total</a:t>
            </a:r>
          </a:p>
          <a:p>
            <a:endParaRPr lang="es-UY" dirty="0"/>
          </a:p>
        </p:txBody>
      </p:sp>
      <p:pic>
        <p:nvPicPr>
          <p:cNvPr id="4" name="3 Imagen" descr="Sin títul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19872" y="3284984"/>
            <a:ext cx="3935416" cy="294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Categorizaciones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Una tabla con los atributos de la superentidad, los de las sub-entidades y un atributo de tipo.</a:t>
            </a:r>
          </a:p>
          <a:p>
            <a:r>
              <a:rPr lang="es-UY" sz="1400" dirty="0" smtClean="0"/>
              <a:t>PERSONAL(</a:t>
            </a:r>
            <a:r>
              <a:rPr lang="es-UY" sz="1400" u="sng" dirty="0" smtClean="0"/>
              <a:t>cedula</a:t>
            </a:r>
            <a:r>
              <a:rPr lang="es-UY" sz="1400" dirty="0" smtClean="0"/>
              <a:t>, nombre, ciudad, calle, numero, especialidad, antigüedad, tipo)</a:t>
            </a:r>
          </a:p>
          <a:p>
            <a:endParaRPr lang="es-UY" sz="1400" dirty="0" smtClean="0"/>
          </a:p>
          <a:p>
            <a:endParaRPr lang="es-UY" sz="1400" dirty="0" smtClean="0"/>
          </a:p>
          <a:p>
            <a:pPr>
              <a:buNone/>
            </a:pPr>
            <a:r>
              <a:rPr lang="es-UY" sz="1500" dirty="0" smtClean="0"/>
              <a:t>Funciona sólo si la</a:t>
            </a:r>
          </a:p>
          <a:p>
            <a:pPr>
              <a:buNone/>
            </a:pPr>
            <a:r>
              <a:rPr lang="es-UY" sz="1500" dirty="0" smtClean="0"/>
              <a:t>categorización es disjunta</a:t>
            </a:r>
          </a:p>
          <a:p>
            <a:endParaRPr lang="es-UY" sz="1500" dirty="0" smtClean="0"/>
          </a:p>
          <a:p>
            <a:pPr>
              <a:buNone/>
            </a:pPr>
            <a:r>
              <a:rPr lang="es-UY" sz="1500" dirty="0" smtClean="0"/>
              <a:t>Puede generar nulos</a:t>
            </a:r>
          </a:p>
          <a:p>
            <a:endParaRPr lang="es-UY" dirty="0"/>
          </a:p>
        </p:txBody>
      </p:sp>
      <p:pic>
        <p:nvPicPr>
          <p:cNvPr id="4" name="3 Imagen" descr="Sin títul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5856" y="2996952"/>
            <a:ext cx="3935416" cy="294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3200" dirty="0" smtClean="0"/>
              <a:t>Categorizaciones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UY" sz="2900" dirty="0" smtClean="0"/>
              <a:t>Una tabla con los atributos de la superentidad, los de las sub-entidades y un atributo booleano por cada sub-entidad</a:t>
            </a:r>
          </a:p>
          <a:p>
            <a:r>
              <a:rPr lang="es-UY" dirty="0" smtClean="0"/>
              <a:t>PERSONAL(</a:t>
            </a:r>
            <a:r>
              <a:rPr lang="es-UY" u="sng" dirty="0" smtClean="0"/>
              <a:t>cedula</a:t>
            </a:r>
            <a:r>
              <a:rPr lang="es-UY" dirty="0" smtClean="0"/>
              <a:t>, nombre, ciudad, calle, numero, especialidad, antigüedad, esMedico, esEnfermero, esAdministrativo)</a:t>
            </a:r>
          </a:p>
          <a:p>
            <a:endParaRPr lang="es-UY" dirty="0" smtClean="0"/>
          </a:p>
          <a:p>
            <a:endParaRPr lang="es-UY" dirty="0" smtClean="0"/>
          </a:p>
          <a:p>
            <a:pPr>
              <a:buNone/>
            </a:pPr>
            <a:r>
              <a:rPr lang="es-UY" sz="2100" dirty="0" smtClean="0"/>
              <a:t>Funciona sólo si la</a:t>
            </a:r>
          </a:p>
          <a:p>
            <a:pPr>
              <a:buNone/>
            </a:pPr>
            <a:r>
              <a:rPr lang="es-UY" sz="2100" dirty="0" smtClean="0"/>
              <a:t>categorización no </a:t>
            </a:r>
          </a:p>
          <a:p>
            <a:pPr>
              <a:buNone/>
            </a:pPr>
            <a:r>
              <a:rPr lang="es-UY" sz="2100" dirty="0" smtClean="0"/>
              <a:t>es disjunta</a:t>
            </a:r>
          </a:p>
          <a:p>
            <a:endParaRPr lang="es-UY" sz="2100" dirty="0" smtClean="0"/>
          </a:p>
          <a:p>
            <a:pPr>
              <a:buNone/>
            </a:pPr>
            <a:r>
              <a:rPr lang="es-UY" sz="2100" dirty="0" smtClean="0"/>
              <a:t>Puede generar nulos</a:t>
            </a:r>
          </a:p>
          <a:p>
            <a:endParaRPr lang="es-UY" dirty="0"/>
          </a:p>
        </p:txBody>
      </p:sp>
      <p:pic>
        <p:nvPicPr>
          <p:cNvPr id="5" name="4 Imagen" descr="Sin títul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63888" y="3429000"/>
            <a:ext cx="3935416" cy="294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53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44</TotalTime>
  <Words>890</Words>
  <Application>Microsoft Office PowerPoint</Application>
  <PresentationFormat>Presentación en pantalla (4:3)</PresentationFormat>
  <Paragraphs>152</Paragraphs>
  <Slides>20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Mirador</vt:lpstr>
      <vt:lpstr>Bases de datos 1</vt:lpstr>
      <vt:lpstr>Introducción</vt:lpstr>
      <vt:lpstr>Entidades</vt:lpstr>
      <vt:lpstr>Ejemplo</vt:lpstr>
      <vt:lpstr>Entidades débiles</vt:lpstr>
      <vt:lpstr>Ejemplo</vt:lpstr>
      <vt:lpstr>Relaciones N:N</vt:lpstr>
      <vt:lpstr>Ejemplo</vt:lpstr>
      <vt:lpstr>Dependencias de inclusión</vt:lpstr>
      <vt:lpstr>En el ejemplo anterior</vt:lpstr>
      <vt:lpstr>Relaciones 1:N</vt:lpstr>
      <vt:lpstr>Ejemplo</vt:lpstr>
      <vt:lpstr>Atributos multivaluados</vt:lpstr>
      <vt:lpstr>Ejemplo</vt:lpstr>
      <vt:lpstr>Agregación</vt:lpstr>
      <vt:lpstr>Ejemplo</vt:lpstr>
      <vt:lpstr>Categorizaciones</vt:lpstr>
      <vt:lpstr>Categorizaciones</vt:lpstr>
      <vt:lpstr>Categorizaciones</vt:lpstr>
      <vt:lpstr>Categorizaciones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1</dc:title>
  <dc:creator>Administrador</dc:creator>
  <cp:lastModifiedBy>Admin</cp:lastModifiedBy>
  <cp:revision>36</cp:revision>
  <dcterms:created xsi:type="dcterms:W3CDTF">2012-03-09T21:03:51Z</dcterms:created>
  <dcterms:modified xsi:type="dcterms:W3CDTF">2012-08-09T05:19:38Z</dcterms:modified>
</cp:coreProperties>
</file>